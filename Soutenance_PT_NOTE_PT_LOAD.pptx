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Notre projet est un infecteur de fichiers ELF ecrit entierement en assembleur x86_64 avec NASM, sans bibliotheque, uniquement des appels systeme. Il met en oeuvre la technique PT_NOTE vers PT_LOAD, vue dans la partie Process injection du cours. Principe en une phrase : prendre un programme Linux sain deja compile et y inserer notre code pour qu'il s'execute au lancement, avant le programme legitime. Objectif pedagogique : comprendre le format ELF et le detournement du flux. Plan : rappels ELF, principe, architecture, demonstration, limites et perspectives. Remplacer &lt;binome&gt; par vos noms.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probleme : comment faire executer du code en plus sans casser le programme et sans ajouter de segment, ce qui decalerait tout le fichier. La reponse, vue en cours : on ne cree rien, on detourne. On prend le PT_NOTE, qui n'est que de la metadonnee non essentielle, et on le transforme. L'objectif est pedagogique : manipuler la structure ELF et le detournement du flux.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ELF, c'est l'equivalent du .exe de Windows : une etiquette et des cartons. L'etiquette, c'est l'en-tete : e_entry a l'offset 0x18 dit par quelle adresse commencer, e_phnum a l'offset 0x38 donne le nombre de program headers. Ce sont exactement les offsets de notre code, tires de la specification ELF. Les cartons, ce sont les segments, 56 octets chacun. PT_LOAD vaut 1 : charge-moi en memoire. PT_NOTE vaut 4 : une simple note. L'idee cle enseignee : le PT_NOTE n'est pas necessaire a l'execution, donc on peut le sacrifier.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ne cree rien, on detourne. On prend le program header PT_NOTE et on le reecrit en PT_LOAD. Analogie : sur un formulaire, transformer la case commentaire facultatif en case instruction a executer ; la structure ne bouge pas, seul le sens change. Cinq champs changent : le type passe de 4 a 1, les droits a lecture plus execution, l'offset pointe la fin du fichier, l'adresse virtuelle une valeur calculee, les tailles a 0x1000. A gauche la boucle cherche un phdr dont le type vaut 0x4 ; a droite, un seul octet transforme 0x04 en 0x01.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point d'entree, c'est l'adresse ou le systeme demarre l'execution. On le detourne vers notre code, mais on sauvegarde d'abord l'ancienne valeur : lseek a l'offset 0x18, read de 8 octets dans old_entry_point, puis de nouveau lseek a 0x18 et write de new_vaddr. Desormais le programme demarre par notre code injecte. La sauvegarde servira a rendre la main, j'y reviens diapo 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detail montre une vraie contrainte du chargeur Linux. L'adresse virtuelle de notre segment vaut la taille du fichier plus 0xc000000, environ 192 Mio. Pourquoi cette constante ? D'abord pour eloigner le segment et eviter tout chevauchement. Surtout, le chargeur exige que l'adresse virtuelle et l'offset dans le fichier soient congruents modulo la page de 4096. Comme 0xc000000 est un multiple de 0x1000, la condition est respectee. Avec un nombre quelconque, le programme refuserait de se lancer ; c'est pourquoi p_align vaut aussi 0x1000.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charge est ecrite a la fin du fichier, en deux morceaux ; entre les deux on insere le port puis l'IP. Pourquoi au milieu ? Ces six octets completent une instruction mov rcx qui construit la structure reseau : famille, port, adresse. L'IP et le port ne sont pas des donnees a cote du code, ils sont soudes dans l'instruction. Le port passe par xchg al, ah pour etre en big-endian, l'ordre reseau. La charge : socket, connect, dup2 des trois descripteurs, puis execve de /bin/sh. Distinction : le minimum demandait un bind shell ; nous avons fait un reverse shell, un bonus.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retour se fait avec deux octets 0x48 0xb8, movabs rax immediat 64 bits ou l'on injecte l'ancien point d'entree, puis 0xff 0xe0, jmp rax. Point verifie et important : la reprise du programme original n'a lieu QUE si la connexion echoue. Dans ce cas on restaure les registres et on saute a l'ancien e_entry, le programme tourne normalement, c'est un repli furtif. Si la connexion reussit, execve de /bin/sh remplace le processus et le programme d'origine ne s'execute jamais. La phrase du README se connecte puis s'execute normalement decrit donc seulement le chemin d'echec.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cible est safe_code, un programme C minimal compile en -no-pie. Etape 1 : make compile l'infecteur et la cible. Etape 2 : on lance l'infecteur sur safe_code en donnant l'IP et le port ; il affiche Starting infection puis Infection successful. Etape 3 : sur une autre machine, un ecouteur netcat sur le port choisi. Etape 4 : on execute le binaire infecte ; le shellcode cree la socket, se connecte, redirige les descripteurs avec dup2 et lance /bin/sh. On obtient un shell distant. Comme la connexion reussit, execve remplace le processus et le programme d'origine ne s'affiche pas.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Bilan. Fait et demontre : l'infecteur, un reverse shell fonctionnel, le retour propre, le repli furtif. Le reverse shell est deja un bonus par rapport au minimum bind shell. Ouvertures theoriques non implementees : chiffrement, support du PIE et des relocations, shellcode polymorphe, environmental keying. A ne pas revendiquer comme faites. Limites : cible -no-pie seulement, tailles sur 3 octets donc moins de 16 Mio, socket supposee en fd 3, descripteur non referme. Cote defense, l'infection laisse une signature nette. Conclusion : comprendre l'attaque pour mieux la detecter. Et l'historique git, exige par le sujet, est propre. Merci.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10515600" cy="4572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400" b="1" i="0">
                <a:solidFill>
                  <a:srgbClr val="1F4E79"/>
                </a:solidFill>
                <a:latin typeface="Calibri"/>
              </a:rPr>
              <a:t>Soutenance · ASM DEV 2 · ESGI 3A</a:t>
            </a:r>
          </a:p>
        </p:txBody>
      </p:sp>
      <p:sp>
        <p:nvSpPr>
          <p:cNvPr id="4" name="TextBox 3"/>
          <p:cNvSpPr txBox="1"/>
          <p:nvPr/>
        </p:nvSpPr>
        <p:spPr>
          <a:xfrm>
            <a:off x="822960" y="1965960"/>
            <a:ext cx="10515600" cy="13716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4000" b="1" i="0">
                <a:solidFill>
                  <a:srgbClr val="1A1A1A"/>
                </a:solidFill>
                <a:latin typeface="Calibri"/>
              </a:rPr>
              <a:t>Infection d’ELF : </a:t>
            </a:r>
            <a:r>
              <a:rPr sz="4000" b="1" i="0">
                <a:solidFill>
                  <a:srgbClr val="1F4E79"/>
                </a:solidFill>
                <a:latin typeface="Calibri"/>
              </a:rPr>
              <a:t>PT_NOTE → PT_LOAD</a:t>
            </a:r>
          </a:p>
        </p:txBody>
      </p:sp>
      <p:sp>
        <p:nvSpPr>
          <p:cNvPr id="5" name="TextBox 4"/>
          <p:cNvSpPr txBox="1"/>
          <p:nvPr/>
        </p:nvSpPr>
        <p:spPr>
          <a:xfrm>
            <a:off x="822960" y="3200400"/>
            <a:ext cx="10515600" cy="73152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800" b="0" i="0">
                <a:solidFill>
                  <a:srgbClr val="6B7280"/>
                </a:solidFill>
                <a:latin typeface="Calibri"/>
              </a:rPr>
              <a:t>Infecteur de binaires en assembleur x86_64 pur (NASM), charge reverse shell.</a:t>
            </a:r>
          </a:p>
        </p:txBody>
      </p:sp>
      <p:sp>
        <p:nvSpPr>
          <p:cNvPr id="6" name="TextBox 5"/>
          <p:cNvSpPr txBox="1"/>
          <p:nvPr/>
        </p:nvSpPr>
        <p:spPr>
          <a:xfrm>
            <a:off x="822960" y="4572000"/>
            <a:ext cx="10515600" cy="1463040"/>
          </a:xfrm>
          <a:prstGeom prst="rect">
            <a:avLst/>
          </a:prstGeom>
          <a:noFill/>
        </p:spPr>
        <p:txBody>
          <a:bodyPr wrap="square" anchor="t" lIns="25400" rIns="25400" tIns="12700" bIns="12700">
            <a:spAutoFit/>
          </a:bodyPr>
          <a:lstStyle/>
          <a:p>
            <a:pPr algn="l">
              <a:lnSpc>
                <a:spcPct val="130000"/>
              </a:lnSpc>
              <a:spcBef>
                <a:spcPts val="0"/>
              </a:spcBef>
              <a:spcAft>
                <a:spcPts val="600"/>
              </a:spcAft>
            </a:pPr>
            <a:r>
              <a:rPr sz="1400" b="0" i="0">
                <a:solidFill>
                  <a:srgbClr val="2B2F36"/>
                </a:solidFill>
                <a:latin typeface="Calibri"/>
              </a:rPr>
              <a:t>Cours : Maxime Boury — Process injection &amp; format ELF</a:t>
            </a:r>
          </a:p>
          <a:p>
            <a:pPr algn="l">
              <a:lnSpc>
                <a:spcPct val="130000"/>
              </a:lnSpc>
              <a:spcBef>
                <a:spcPts val="0"/>
              </a:spcBef>
              <a:spcAft>
                <a:spcPts val="600"/>
              </a:spcAft>
            </a:pPr>
            <a:r>
              <a:rPr sz="1400" b="0" i="0">
                <a:solidFill>
                  <a:srgbClr val="2B2F36"/>
                </a:solidFill>
                <a:latin typeface="Calibri"/>
              </a:rPr>
              <a:t>Auteurs : Aziz Bendahsen et Walid Hajjout   ·   Rendu : git bundle</a:t>
            </a:r>
          </a:p>
          <a:p>
            <a:pPr algn="l">
              <a:lnSpc>
                <a:spcPct val="130000"/>
              </a:lnSpc>
              <a:spcBef>
                <a:spcPts val="0"/>
              </a:spcBef>
              <a:spcAft>
                <a:spcPts val="600"/>
              </a:spcAft>
            </a:pPr>
            <a:r>
              <a:rPr sz="1250" b="0" i="0">
                <a:solidFill>
                  <a:srgbClr val="6B7280"/>
                </a:solidFill>
                <a:latin typeface="Calibri"/>
              </a:rPr>
              <a:t>Sources : cours ASM DEV 2 · man elf(5) · Intezer « ELF 101 » · MITRE ATT&amp;CK T1055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i="0">
                <a:solidFill>
                  <a:srgbClr val="1F4E79"/>
                </a:solidFill>
                <a:latin typeface="Calibri"/>
              </a:rPr>
              <a:t>1 · INTRODUCTION</a:t>
            </a:r>
          </a:p>
        </p:txBody>
      </p:sp>
      <p:sp>
        <p:nvSpPr>
          <p:cNvPr id="4" name="TextBox 3"/>
          <p:cNvSpPr txBox="1"/>
          <p:nvPr/>
        </p:nvSpPr>
        <p:spPr>
          <a:xfrm>
            <a:off x="685800" y="786384"/>
            <a:ext cx="10789920" cy="9144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i="0">
                <a:solidFill>
                  <a:srgbClr val="1A1A1A"/>
                </a:solidFill>
                <a:latin typeface="Calibri"/>
              </a:rPr>
              <a:t>Le problème : exécuter du code en plus, sans rien casser</a:t>
            </a:r>
          </a:p>
        </p:txBody>
      </p:sp>
      <p:sp>
        <p:nvSpPr>
          <p:cNvPr id="5" name="TextBox 4"/>
          <p:cNvSpPr txBox="1"/>
          <p:nvPr/>
        </p:nvSpPr>
        <p:spPr>
          <a:xfrm>
            <a:off x="685800" y="2194560"/>
            <a:ext cx="5760720" cy="3657600"/>
          </a:xfrm>
          <a:prstGeom prst="rect">
            <a:avLst/>
          </a:prstGeom>
          <a:noFill/>
        </p:spPr>
        <p:txBody>
          <a:bodyPr wrap="square" anchor="t" lIns="25400" rIns="25400" tIns="12700" bIns="12700">
            <a:spAutoFit/>
          </a:bodyPr>
          <a:lstStyle/>
          <a:p>
            <a:pPr algn="l">
              <a:lnSpc>
                <a:spcPct val="108000"/>
              </a:lnSpc>
              <a:spcBef>
                <a:spcPts val="0"/>
              </a:spcBef>
              <a:spcAft>
                <a:spcPts val="1400"/>
              </a:spcAft>
            </a:pPr>
            <a:r>
              <a:rPr sz="1600" b="0" i="0">
                <a:solidFill>
                  <a:srgbClr val="6B7280"/>
                </a:solidFill>
                <a:latin typeface="Calibri"/>
              </a:rPr>
              <a:t>•  </a:t>
            </a:r>
            <a:r>
              <a:rPr sz="1600" b="0" i="0">
                <a:solidFill>
                  <a:srgbClr val="2B2F36"/>
                </a:solidFill>
                <a:latin typeface="Calibri"/>
              </a:rPr>
              <a:t>Contrainte : ajouter notre code dans un ELF sain, sans ajouter de segment (cela décalerait tout le fichier) et sans casser le programme.</a:t>
            </a:r>
          </a:p>
          <a:p>
            <a:pPr algn="l">
              <a:lnSpc>
                <a:spcPct val="108000"/>
              </a:lnSpc>
              <a:spcBef>
                <a:spcPts val="0"/>
              </a:spcBef>
              <a:spcAft>
                <a:spcPts val="1400"/>
              </a:spcAft>
            </a:pPr>
            <a:r>
              <a:rPr sz="1600" b="0" i="0">
                <a:solidFill>
                  <a:srgbClr val="6B7280"/>
                </a:solidFill>
                <a:latin typeface="Calibri"/>
              </a:rPr>
              <a:t>•  </a:t>
            </a:r>
            <a:r>
              <a:rPr sz="1600" b="0" i="0">
                <a:solidFill>
                  <a:srgbClr val="2B2F36"/>
                </a:solidFill>
                <a:latin typeface="Calibri"/>
              </a:rPr>
              <a:t>Idée du cours : on ne crée rien, on détourne un segment déjà présent mais inutile, le PT_NOTE.</a:t>
            </a:r>
          </a:p>
          <a:p>
            <a:pPr algn="l">
              <a:lnSpc>
                <a:spcPct val="108000"/>
              </a:lnSpc>
              <a:spcBef>
                <a:spcPts val="0"/>
              </a:spcBef>
              <a:spcAft>
                <a:spcPts val="1400"/>
              </a:spcAft>
            </a:pPr>
            <a:r>
              <a:rPr sz="1600" b="0" i="0">
                <a:solidFill>
                  <a:srgbClr val="6B7280"/>
                </a:solidFill>
                <a:latin typeface="Calibri"/>
              </a:rPr>
              <a:t>•  </a:t>
            </a:r>
            <a:r>
              <a:rPr sz="1600" b="0" i="0">
                <a:solidFill>
                  <a:srgbClr val="2B2F36"/>
                </a:solidFill>
                <a:latin typeface="Calibri"/>
              </a:rPr>
              <a:t>Objectif pédagogique : comprendre la structure ELF et le détournement du flux d’exécution.</a:t>
            </a:r>
          </a:p>
        </p:txBody>
      </p:sp>
      <p:pic>
        <p:nvPicPr>
          <p:cNvPr id="6" name="Picture 5" descr="inject.png"/>
          <p:cNvPicPr>
            <a:picLocks noChangeAspect="1"/>
          </p:cNvPicPr>
          <p:nvPr/>
        </p:nvPicPr>
        <p:blipFill>
          <a:blip r:embed="rId2"/>
          <a:stretch>
            <a:fillRect/>
          </a:stretch>
        </p:blipFill>
        <p:spPr>
          <a:xfrm>
            <a:off x="6675120" y="2286000"/>
            <a:ext cx="4937760" cy="2610171"/>
          </a:xfrm>
          <a:prstGeom prst="rect">
            <a:avLst/>
          </a:prstGeom>
          <a:ln w="9525">
            <a:solidFill>
              <a:srgbClr val="E2E5EA"/>
            </a:solidFill>
          </a:ln>
        </p:spPr>
      </p:pic>
      <p:sp>
        <p:nvSpPr>
          <p:cNvPr id="7" name="TextBox 6"/>
          <p:cNvSpPr txBox="1"/>
          <p:nvPr/>
        </p:nvSpPr>
        <p:spPr>
          <a:xfrm>
            <a:off x="6675120" y="5074920"/>
            <a:ext cx="4937760" cy="502920"/>
          </a:xfrm>
          <a:prstGeom prst="rect">
            <a:avLst/>
          </a:prstGeom>
          <a:noFill/>
        </p:spPr>
        <p:txBody>
          <a:bodyPr wrap="square" anchor="t" lIns="25400" rIns="25400" tIns="12700" bIns="12700">
            <a:spAutoFit/>
          </a:bodyPr>
          <a:lstStyle/>
          <a:p>
            <a:pPr algn="l">
              <a:lnSpc>
                <a:spcPct val="105000"/>
              </a:lnSpc>
              <a:spcBef>
                <a:spcPts val="0"/>
              </a:spcBef>
              <a:spcAft>
                <a:spcPts val="600"/>
              </a:spcAft>
            </a:pPr>
            <a:r>
              <a:rPr sz="1050" b="0" i="1">
                <a:solidFill>
                  <a:srgbClr val="6B7280"/>
                </a:solidFill>
                <a:latin typeface="Calibri"/>
              </a:rPr>
              <a:t>Concept d’injection — cours ASM DEV 2, slide 18 (M. Boury). Notre projet l’applique au fichier ELF.</a:t>
            </a:r>
          </a:p>
        </p:txBody>
      </p:sp>
      <p:sp>
        <p:nvSpPr>
          <p:cNvPr id="8" name="TextBox 7"/>
          <p:cNvSpPr txBox="1"/>
          <p:nvPr/>
        </p:nvSpPr>
        <p:spPr>
          <a:xfrm>
            <a:off x="11247120" y="6437376"/>
            <a:ext cx="731520" cy="320040"/>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1050" b="0" i="0">
                <a:solidFill>
                  <a:srgbClr val="6B728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i="0">
                <a:solidFill>
                  <a:srgbClr val="1F4E79"/>
                </a:solidFill>
                <a:latin typeface="Calibri"/>
              </a:rPr>
              <a:t>2 · RAPPELS ELF  (cours, slides 23–30)</a:t>
            </a:r>
          </a:p>
        </p:txBody>
      </p:sp>
      <p:sp>
        <p:nvSpPr>
          <p:cNvPr id="4" name="TextBox 3"/>
          <p:cNvSpPr txBox="1"/>
          <p:nvPr/>
        </p:nvSpPr>
        <p:spPr>
          <a:xfrm>
            <a:off x="685800" y="786384"/>
            <a:ext cx="10789920" cy="9144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i="0">
                <a:solidFill>
                  <a:srgbClr val="1A1A1A"/>
                </a:solidFill>
                <a:latin typeface="Calibri"/>
              </a:rPr>
              <a:t>Deux objets suffisent : l’en-tête et les program headers</a:t>
            </a:r>
          </a:p>
        </p:txBody>
      </p:sp>
      <p:sp>
        <p:nvSpPr>
          <p:cNvPr id="5" name="TextBox 4"/>
          <p:cNvSpPr txBox="1"/>
          <p:nvPr/>
        </p:nvSpPr>
        <p:spPr>
          <a:xfrm>
            <a:off x="685800" y="2103120"/>
            <a:ext cx="4572000" cy="4023360"/>
          </a:xfrm>
          <a:prstGeom prst="rect">
            <a:avLst/>
          </a:prstGeom>
          <a:noFill/>
        </p:spPr>
        <p:txBody>
          <a:bodyPr wrap="square" anchor="t" lIns="25400" rIns="25400" tIns="12700" bIns="12700">
            <a:spAutoFit/>
          </a:bodyPr>
          <a:lstStyle/>
          <a:p>
            <a:pPr algn="l">
              <a:lnSpc>
                <a:spcPct val="110000"/>
              </a:lnSpc>
              <a:spcBef>
                <a:spcPts val="0"/>
              </a:spcBef>
              <a:spcAft>
                <a:spcPts val="400"/>
              </a:spcAft>
            </a:pPr>
            <a:r>
              <a:rPr sz="1500" b="1" i="0">
                <a:solidFill>
                  <a:srgbClr val="1A1A1A"/>
                </a:solidFill>
                <a:latin typeface="Calibri"/>
              </a:rPr>
              <a:t>L’en-tête ELF, deux champs clés :</a:t>
            </a:r>
          </a:p>
          <a:p>
            <a:pPr algn="l">
              <a:lnSpc>
                <a:spcPct val="110000"/>
              </a:lnSpc>
              <a:spcBef>
                <a:spcPts val="0"/>
              </a:spcBef>
              <a:spcAft>
                <a:spcPts val="400"/>
              </a:spcAft>
            </a:pPr>
            <a:r>
              <a:rPr sz="1450" b="1" i="0">
                <a:solidFill>
                  <a:srgbClr val="1F4E79"/>
                </a:solidFill>
                <a:latin typeface="Consolas"/>
              </a:rPr>
              <a:t>e_entry @ 0x18</a:t>
            </a:r>
            <a:r>
              <a:rPr sz="1300" b="0" i="0">
                <a:solidFill>
                  <a:srgbClr val="6B7280"/>
                </a:solidFill>
                <a:latin typeface="Calibri"/>
              </a:rPr>
              <a:t>  1ère instruction</a:t>
            </a:r>
          </a:p>
          <a:p>
            <a:pPr algn="l">
              <a:lnSpc>
                <a:spcPct val="110000"/>
              </a:lnSpc>
              <a:spcBef>
                <a:spcPts val="0"/>
              </a:spcBef>
              <a:spcAft>
                <a:spcPts val="400"/>
              </a:spcAft>
            </a:pPr>
            <a:r>
              <a:rPr sz="1450" b="1" i="0">
                <a:solidFill>
                  <a:srgbClr val="1F4E79"/>
                </a:solidFill>
                <a:latin typeface="Consolas"/>
              </a:rPr>
              <a:t>e_phnum @ 0x38</a:t>
            </a:r>
            <a:r>
              <a:rPr sz="1300" b="0" i="0">
                <a:solidFill>
                  <a:srgbClr val="6B7280"/>
                </a:solidFill>
                <a:latin typeface="Calibri"/>
              </a:rPr>
              <a:t>  nb de program headers</a:t>
            </a:r>
          </a:p>
          <a:p>
            <a:pPr algn="l">
              <a:lnSpc>
                <a:spcPct val="110000"/>
              </a:lnSpc>
              <a:spcBef>
                <a:spcPts val="0"/>
              </a:spcBef>
              <a:spcAft>
                <a:spcPts val="400"/>
              </a:spcAft>
            </a:pPr>
            <a:r>
              <a:rPr sz="1600" b="0" i="0">
                <a:solidFill>
                  <a:srgbClr val="2B2F36"/>
                </a:solidFill>
                <a:latin typeface="Calibri"/>
              </a:rPr>
              <a:t/>
            </a:r>
          </a:p>
          <a:p>
            <a:pPr algn="l">
              <a:lnSpc>
                <a:spcPct val="110000"/>
              </a:lnSpc>
              <a:spcBef>
                <a:spcPts val="0"/>
              </a:spcBef>
              <a:spcAft>
                <a:spcPts val="400"/>
              </a:spcAft>
            </a:pPr>
            <a:r>
              <a:rPr sz="1500" b="1" i="0">
                <a:solidFill>
                  <a:srgbClr val="1A1A1A"/>
                </a:solidFill>
                <a:latin typeface="Calibri"/>
              </a:rPr>
              <a:t>Les program headers (segments)</a:t>
            </a:r>
          </a:p>
          <a:p>
            <a:pPr algn="l">
              <a:lnSpc>
                <a:spcPct val="110000"/>
              </a:lnSpc>
              <a:spcBef>
                <a:spcPts val="0"/>
              </a:spcBef>
              <a:spcAft>
                <a:spcPts val="400"/>
              </a:spcAft>
            </a:pPr>
            <a:r>
              <a:rPr sz="1350" b="0" i="0">
                <a:solidFill>
                  <a:srgbClr val="2B2F36"/>
                </a:solidFill>
                <a:latin typeface="Calibri"/>
              </a:rPr>
              <a:t>56 octets chacun.</a:t>
            </a:r>
          </a:p>
          <a:p>
            <a:pPr algn="l">
              <a:lnSpc>
                <a:spcPct val="110000"/>
              </a:lnSpc>
              <a:spcBef>
                <a:spcPts val="0"/>
              </a:spcBef>
              <a:spcAft>
                <a:spcPts val="400"/>
              </a:spcAft>
            </a:pPr>
            <a:r>
              <a:rPr sz="1450" b="1" i="0">
                <a:solidFill>
                  <a:srgbClr val="1F4E79"/>
                </a:solidFill>
                <a:latin typeface="Consolas"/>
              </a:rPr>
              <a:t>PT_LOAD = 1</a:t>
            </a:r>
            <a:r>
              <a:rPr sz="1300" b="0" i="0">
                <a:solidFill>
                  <a:srgbClr val="6B7280"/>
                </a:solidFill>
                <a:latin typeface="Calibri"/>
              </a:rPr>
              <a:t>  charge en mémoire</a:t>
            </a:r>
          </a:p>
          <a:p>
            <a:pPr algn="l">
              <a:lnSpc>
                <a:spcPct val="110000"/>
              </a:lnSpc>
              <a:spcBef>
                <a:spcPts val="0"/>
              </a:spcBef>
              <a:spcAft>
                <a:spcPts val="400"/>
              </a:spcAft>
            </a:pPr>
            <a:r>
              <a:rPr sz="1450" b="1" i="0">
                <a:solidFill>
                  <a:srgbClr val="1F4E79"/>
                </a:solidFill>
                <a:latin typeface="Consolas"/>
              </a:rPr>
              <a:t>PT_NOTE = 4</a:t>
            </a:r>
            <a:r>
              <a:rPr sz="1300" b="0" i="0">
                <a:solidFill>
                  <a:srgbClr val="6B7280"/>
                </a:solidFill>
                <a:latin typeface="Calibri"/>
              </a:rPr>
              <a:t>  note, non essentiel</a:t>
            </a:r>
          </a:p>
          <a:p>
            <a:pPr algn="l">
              <a:lnSpc>
                <a:spcPct val="110000"/>
              </a:lnSpc>
              <a:spcBef>
                <a:spcPts val="0"/>
              </a:spcBef>
              <a:spcAft>
                <a:spcPts val="400"/>
              </a:spcAft>
            </a:pPr>
            <a:r>
              <a:rPr sz="1600" b="0" i="0">
                <a:solidFill>
                  <a:srgbClr val="2B2F36"/>
                </a:solidFill>
                <a:latin typeface="Calibri"/>
              </a:rPr>
              <a:t/>
            </a:r>
          </a:p>
          <a:p>
            <a:pPr algn="l">
              <a:lnSpc>
                <a:spcPct val="110000"/>
              </a:lnSpc>
              <a:spcBef>
                <a:spcPts val="0"/>
              </a:spcBef>
              <a:spcAft>
                <a:spcPts val="400"/>
              </a:spcAft>
            </a:pPr>
            <a:r>
              <a:rPr sz="1350" b="0" i="0">
                <a:solidFill>
                  <a:srgbClr val="2B2F36"/>
                </a:solidFill>
                <a:latin typeface="Calibri"/>
              </a:rPr>
              <a:t>Point clé : le PT_NOTE n’est pas</a:t>
            </a:r>
          </a:p>
          <a:p>
            <a:pPr algn="l">
              <a:lnSpc>
                <a:spcPct val="110000"/>
              </a:lnSpc>
              <a:spcBef>
                <a:spcPts val="0"/>
              </a:spcBef>
              <a:spcAft>
                <a:spcPts val="400"/>
              </a:spcAft>
            </a:pPr>
            <a:r>
              <a:rPr sz="1350" b="0" i="0">
                <a:solidFill>
                  <a:srgbClr val="2B2F36"/>
                </a:solidFill>
                <a:latin typeface="Calibri"/>
              </a:rPr>
              <a:t>nécessaire à l’exécution → sacrifiable.</a:t>
            </a:r>
          </a:p>
        </p:txBody>
      </p:sp>
      <p:pic>
        <p:nvPicPr>
          <p:cNvPr id="6" name="Picture 5" descr="header_map.png"/>
          <p:cNvPicPr>
            <a:picLocks noChangeAspect="1"/>
          </p:cNvPicPr>
          <p:nvPr/>
        </p:nvPicPr>
        <p:blipFill>
          <a:blip r:embed="rId2"/>
          <a:stretch>
            <a:fillRect/>
          </a:stretch>
        </p:blipFill>
        <p:spPr>
          <a:xfrm>
            <a:off x="5440680" y="2514600"/>
            <a:ext cx="6126480" cy="2450592"/>
          </a:xfrm>
          <a:prstGeom prst="rect">
            <a:avLst/>
          </a:prstGeom>
          <a:ln w="9525">
            <a:solidFill>
              <a:srgbClr val="E2E5EA"/>
            </a:solidFill>
          </a:ln>
        </p:spPr>
      </p:pic>
      <p:sp>
        <p:nvSpPr>
          <p:cNvPr id="7" name="TextBox 6"/>
          <p:cNvSpPr txBox="1"/>
          <p:nvPr/>
        </p:nvSpPr>
        <p:spPr>
          <a:xfrm>
            <a:off x="5440680" y="5074920"/>
            <a:ext cx="6126480" cy="502920"/>
          </a:xfrm>
          <a:prstGeom prst="rect">
            <a:avLst/>
          </a:prstGeom>
          <a:noFill/>
        </p:spPr>
        <p:txBody>
          <a:bodyPr wrap="square" anchor="t" lIns="25400" rIns="25400" tIns="12700" bIns="12700">
            <a:spAutoFit/>
          </a:bodyPr>
          <a:lstStyle/>
          <a:p>
            <a:pPr algn="l">
              <a:lnSpc>
                <a:spcPct val="105000"/>
              </a:lnSpc>
              <a:spcBef>
                <a:spcPts val="0"/>
              </a:spcBef>
              <a:spcAft>
                <a:spcPts val="600"/>
              </a:spcAft>
            </a:pPr>
            <a:r>
              <a:rPr sz="1050" b="0" i="1">
                <a:solidFill>
                  <a:srgbClr val="6B7280"/>
                </a:solidFill>
                <a:latin typeface="Calibri"/>
              </a:rPr>
              <a:t>Carte de l’en-tête ELF — cours ASM DEV 2, slide 24 (M. Boury). Position et taille de chaque champ ; repérer e_entry et e_phnum.</a:t>
            </a:r>
          </a:p>
        </p:txBody>
      </p:sp>
      <p:sp>
        <p:nvSpPr>
          <p:cNvPr id="8" name="TextBox 7"/>
          <p:cNvSpPr txBox="1"/>
          <p:nvPr/>
        </p:nvSpPr>
        <p:spPr>
          <a:xfrm>
            <a:off x="11247120" y="6437376"/>
            <a:ext cx="731520" cy="320040"/>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1050" b="0" i="0">
                <a:solidFill>
                  <a:srgbClr val="6B728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i="0">
                <a:solidFill>
                  <a:srgbClr val="1F4E79"/>
                </a:solidFill>
                <a:latin typeface="Calibri"/>
              </a:rPr>
              <a:t>3 · PRINCIPE DE LA MÉTHODE</a:t>
            </a:r>
          </a:p>
        </p:txBody>
      </p:sp>
      <p:sp>
        <p:nvSpPr>
          <p:cNvPr id="4" name="TextBox 3"/>
          <p:cNvSpPr txBox="1"/>
          <p:nvPr/>
        </p:nvSpPr>
        <p:spPr>
          <a:xfrm>
            <a:off x="685800" y="786384"/>
            <a:ext cx="10789920" cy="9144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i="0">
                <a:solidFill>
                  <a:srgbClr val="1A1A1A"/>
                </a:solidFill>
                <a:latin typeface="Calibri"/>
              </a:rPr>
              <a:t>On détourne le PT_NOTE : même case, nouveau sens</a:t>
            </a:r>
          </a:p>
        </p:txBody>
      </p:sp>
      <p:pic>
        <p:nvPicPr>
          <p:cNvPr id="5" name="Picture 4" descr="phdr.png"/>
          <p:cNvPicPr>
            <a:picLocks noChangeAspect="1"/>
          </p:cNvPicPr>
          <p:nvPr/>
        </p:nvPicPr>
        <p:blipFill>
          <a:blip r:embed="rId2"/>
          <a:stretch>
            <a:fillRect/>
          </a:stretch>
        </p:blipFill>
        <p:spPr>
          <a:xfrm>
            <a:off x="685800" y="2103120"/>
            <a:ext cx="4846320" cy="2071147"/>
          </a:xfrm>
          <a:prstGeom prst="rect">
            <a:avLst/>
          </a:prstGeom>
          <a:ln w="9525">
            <a:solidFill>
              <a:srgbClr val="E2E5EA"/>
            </a:solidFill>
          </a:ln>
        </p:spPr>
      </p:pic>
      <p:sp>
        <p:nvSpPr>
          <p:cNvPr id="6" name="TextBox 5"/>
          <p:cNvSpPr txBox="1"/>
          <p:nvPr/>
        </p:nvSpPr>
        <p:spPr>
          <a:xfrm>
            <a:off x="685800" y="4224528"/>
            <a:ext cx="4846320" cy="502920"/>
          </a:xfrm>
          <a:prstGeom prst="rect">
            <a:avLst/>
          </a:prstGeom>
          <a:noFill/>
        </p:spPr>
        <p:txBody>
          <a:bodyPr wrap="square" anchor="t" lIns="25400" rIns="25400" tIns="12700" bIns="12700">
            <a:spAutoFit/>
          </a:bodyPr>
          <a:lstStyle/>
          <a:p>
            <a:pPr algn="l">
              <a:lnSpc>
                <a:spcPct val="105000"/>
              </a:lnSpc>
              <a:spcBef>
                <a:spcPts val="0"/>
              </a:spcBef>
              <a:spcAft>
                <a:spcPts val="600"/>
              </a:spcAft>
            </a:pPr>
            <a:r>
              <a:rPr sz="1050" b="0" i="1">
                <a:solidFill>
                  <a:srgbClr val="6B7280"/>
                </a:solidFill>
                <a:latin typeface="Calibri"/>
              </a:rPr>
              <a:t>struct Elf64_Phdr — cours ASM DEV 2, slide 27 (M. Boury).</a:t>
            </a:r>
          </a:p>
        </p:txBody>
      </p:sp>
      <p:sp>
        <p:nvSpPr>
          <p:cNvPr id="7" name="Rounded Rectangle 6"/>
          <p:cNvSpPr/>
          <p:nvPr/>
        </p:nvSpPr>
        <p:spPr>
          <a:xfrm>
            <a:off x="685800" y="4617720"/>
            <a:ext cx="4846320" cy="1691640"/>
          </a:xfrm>
          <a:prstGeom prst="roundRect">
            <a:avLst>
              <a:gd name="adj" fmla="val 4000"/>
            </a:avLst>
          </a:prstGeom>
          <a:solidFill>
            <a:srgbClr val="F4F5F7"/>
          </a:solidFill>
          <a:ln w="12700">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727448"/>
            <a:ext cx="4480559" cy="27432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050" b="1" i="0">
                <a:solidFill>
                  <a:srgbClr val="6B7280"/>
                </a:solidFill>
                <a:latin typeface="Consolas"/>
              </a:rPr>
              <a:t>elf_patcher.inc — recherche du PT_NOTE</a:t>
            </a:r>
          </a:p>
        </p:txBody>
      </p:sp>
      <p:sp>
        <p:nvSpPr>
          <p:cNvPr id="9" name="TextBox 8"/>
          <p:cNvSpPr txBox="1"/>
          <p:nvPr/>
        </p:nvSpPr>
        <p:spPr>
          <a:xfrm>
            <a:off x="886968" y="5038344"/>
            <a:ext cx="4443983" cy="1161288"/>
          </a:xfrm>
          <a:prstGeom prst="rect">
            <a:avLst/>
          </a:prstGeom>
          <a:noFill/>
        </p:spPr>
        <p:txBody>
          <a:bodyPr wrap="square" anchor="t" lIns="25400" rIns="25400" tIns="12700" bIns="12700">
            <a:spAutoFit/>
          </a:bodyPr>
          <a:lstStyle/>
          <a:p>
            <a:pPr algn="l">
              <a:lnSpc>
                <a:spcPct val="106000"/>
              </a:lnSpc>
              <a:spcBef>
                <a:spcPts val="0"/>
              </a:spcBef>
              <a:spcAft>
                <a:spcPts val="200"/>
              </a:spcAft>
            </a:pPr>
            <a:r>
              <a:rPr sz="1100" b="0" i="0">
                <a:solidFill>
                  <a:srgbClr val="8A93A3"/>
                </a:solidFill>
                <a:latin typeface="Consolas"/>
              </a:rPr>
              <a:t>movzx rcx, word [buffer+0x38] ; e_phnum</a:t>
            </a:r>
          </a:p>
          <a:p>
            <a:pPr algn="l">
              <a:lnSpc>
                <a:spcPct val="106000"/>
              </a:lnSpc>
              <a:spcBef>
                <a:spcPts val="0"/>
              </a:spcBef>
              <a:spcAft>
                <a:spcPts val="200"/>
              </a:spcAft>
            </a:pPr>
            <a:r>
              <a:rPr sz="1100" b="0" i="0">
                <a:solidFill>
                  <a:srgbClr val="8A93A3"/>
                </a:solidFill>
                <a:latin typeface="Consolas"/>
              </a:rPr>
              <a:t>.loop_seg: add rbx, rdx</a:t>
            </a:r>
          </a:p>
          <a:p>
            <a:pPr algn="l">
              <a:lnSpc>
                <a:spcPct val="106000"/>
              </a:lnSpc>
              <a:spcBef>
                <a:spcPts val="0"/>
              </a:spcBef>
              <a:spcAft>
                <a:spcPts val="200"/>
              </a:spcAft>
            </a:pPr>
            <a:r>
              <a:rPr sz="1100" b="1" i="0">
                <a:solidFill>
                  <a:srgbClr val="1F4E79"/>
                </a:solidFill>
                <a:latin typeface="Consolas"/>
              </a:rPr>
              <a:t>  cmp dword [r15+rbx], 0x4  ; PT_NOTE ?</a:t>
            </a:r>
          </a:p>
          <a:p>
            <a:pPr algn="l">
              <a:lnSpc>
                <a:spcPct val="106000"/>
              </a:lnSpc>
              <a:spcBef>
                <a:spcPts val="0"/>
              </a:spcBef>
              <a:spcAft>
                <a:spcPts val="200"/>
              </a:spcAft>
            </a:pPr>
            <a:r>
              <a:rPr sz="1100" b="0" i="0">
                <a:solidFill>
                  <a:srgbClr val="8A93A3"/>
                </a:solidFill>
                <a:latin typeface="Consolas"/>
              </a:rPr>
              <a:t>  je .pt_note_found</a:t>
            </a:r>
          </a:p>
        </p:txBody>
      </p:sp>
      <p:sp>
        <p:nvSpPr>
          <p:cNvPr id="10" name="TextBox 9"/>
          <p:cNvSpPr txBox="1"/>
          <p:nvPr/>
        </p:nvSpPr>
        <p:spPr>
          <a:xfrm>
            <a:off x="5852160" y="2103120"/>
            <a:ext cx="5715000" cy="1371600"/>
          </a:xfrm>
          <a:prstGeom prst="rect">
            <a:avLst/>
          </a:prstGeom>
          <a:noFill/>
        </p:spPr>
        <p:txBody>
          <a:bodyPr wrap="square" anchor="t" lIns="25400" rIns="25400" tIns="12700" bIns="12700">
            <a:spAutoFit/>
          </a:bodyPr>
          <a:lstStyle/>
          <a:p>
            <a:pPr algn="l">
              <a:lnSpc>
                <a:spcPct val="115000"/>
              </a:lnSpc>
              <a:spcBef>
                <a:spcPts val="0"/>
              </a:spcBef>
              <a:spcAft>
                <a:spcPts val="600"/>
              </a:spcAft>
            </a:pPr>
            <a:r>
              <a:rPr sz="1500" b="0" i="0">
                <a:solidFill>
                  <a:srgbClr val="2B2F36"/>
                </a:solidFill>
                <a:latin typeface="Calibri"/>
              </a:rPr>
              <a:t>On réécrit l’entrée PT_NOTE en PT_LOAD. Cinq champs changent, aucune structure n’est déplacée :</a:t>
            </a:r>
          </a:p>
          <a:p>
            <a:pPr algn="l">
              <a:lnSpc>
                <a:spcPct val="115000"/>
              </a:lnSpc>
              <a:spcBef>
                <a:spcPts val="0"/>
              </a:spcBef>
              <a:spcAft>
                <a:spcPts val="600"/>
              </a:spcAft>
            </a:pPr>
            <a:r>
              <a:rPr sz="1250" b="1" i="0">
                <a:solidFill>
                  <a:srgbClr val="1A1A1A"/>
                </a:solidFill>
                <a:latin typeface="Consolas"/>
              </a:rPr>
              <a:t>p_type 4→1 · flags R+X · offset · vaddr · filesz/memsz=0x1000</a:t>
            </a:r>
          </a:p>
        </p:txBody>
      </p:sp>
      <p:sp>
        <p:nvSpPr>
          <p:cNvPr id="11" name="Rounded Rectangle 10"/>
          <p:cNvSpPr/>
          <p:nvPr/>
        </p:nvSpPr>
        <p:spPr>
          <a:xfrm>
            <a:off x="5852160" y="3566160"/>
            <a:ext cx="5715000" cy="2743200"/>
          </a:xfrm>
          <a:prstGeom prst="roundRect">
            <a:avLst>
              <a:gd name="adj" fmla="val 4000"/>
            </a:avLst>
          </a:prstGeom>
          <a:solidFill>
            <a:srgbClr val="F4F5F7"/>
          </a:solidFill>
          <a:ln w="12700">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3675887"/>
            <a:ext cx="5349240" cy="27432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050" b="1" i="0">
                <a:solidFill>
                  <a:srgbClr val="6B7280"/>
                </a:solidFill>
                <a:latin typeface="Consolas"/>
              </a:rPr>
              <a:t>elf_patcher.inc — transformation</a:t>
            </a:r>
          </a:p>
        </p:txBody>
      </p:sp>
      <p:sp>
        <p:nvSpPr>
          <p:cNvPr id="13" name="TextBox 12"/>
          <p:cNvSpPr txBox="1"/>
          <p:nvPr/>
        </p:nvSpPr>
        <p:spPr>
          <a:xfrm>
            <a:off x="6053328" y="3986784"/>
            <a:ext cx="5312664" cy="2212847"/>
          </a:xfrm>
          <a:prstGeom prst="rect">
            <a:avLst/>
          </a:prstGeom>
          <a:noFill/>
        </p:spPr>
        <p:txBody>
          <a:bodyPr wrap="square" anchor="t" lIns="25400" rIns="25400" tIns="12700" bIns="12700">
            <a:spAutoFit/>
          </a:bodyPr>
          <a:lstStyle/>
          <a:p>
            <a:pPr algn="l">
              <a:lnSpc>
                <a:spcPct val="106000"/>
              </a:lnSpc>
              <a:spcBef>
                <a:spcPts val="0"/>
              </a:spcBef>
              <a:spcAft>
                <a:spcPts val="200"/>
              </a:spcAft>
            </a:pPr>
            <a:r>
              <a:rPr sz="1250" b="0" i="0">
                <a:solidFill>
                  <a:srgbClr val="8A93A3"/>
                </a:solidFill>
                <a:latin typeface="Consolas"/>
              </a:rPr>
              <a:t>; p_type : 0x04 (PT_NOTE) -&gt; 0x01 (PT_LOAD)</a:t>
            </a:r>
          </a:p>
          <a:p>
            <a:pPr algn="l">
              <a:lnSpc>
                <a:spcPct val="106000"/>
              </a:lnSpc>
              <a:spcBef>
                <a:spcPts val="0"/>
              </a:spcBef>
              <a:spcAft>
                <a:spcPts val="200"/>
              </a:spcAft>
            </a:pPr>
            <a:r>
              <a:rPr sz="1250" b="0" i="0">
                <a:solidFill>
                  <a:srgbClr val="8A93A3"/>
                </a:solidFill>
                <a:latin typeface="Consolas"/>
              </a:rPr>
              <a:t>mov rsi, [offset_tp]    ; lseek</a:t>
            </a:r>
          </a:p>
          <a:p>
            <a:pPr algn="l">
              <a:lnSpc>
                <a:spcPct val="106000"/>
              </a:lnSpc>
              <a:spcBef>
                <a:spcPts val="0"/>
              </a:spcBef>
              <a:spcAft>
                <a:spcPts val="200"/>
              </a:spcAft>
            </a:pPr>
            <a:r>
              <a:rPr sz="1250" b="0" i="0">
                <a:solidFill>
                  <a:srgbClr val="8A93A3"/>
                </a:solidFill>
                <a:latin typeface="Consolas"/>
              </a:rPr>
              <a:t>mov rax, 1              ; write</a:t>
            </a:r>
          </a:p>
          <a:p>
            <a:pPr algn="l">
              <a:lnSpc>
                <a:spcPct val="106000"/>
              </a:lnSpc>
              <a:spcBef>
                <a:spcPts val="0"/>
              </a:spcBef>
              <a:spcAft>
                <a:spcPts val="200"/>
              </a:spcAft>
            </a:pPr>
            <a:r>
              <a:rPr sz="1250" b="1" i="0">
                <a:solidFill>
                  <a:srgbClr val="1F4E79"/>
                </a:solidFill>
                <a:latin typeface="Consolas"/>
              </a:rPr>
              <a:t>mov rsi, tp_load        ; data.inc: db 0x01</a:t>
            </a:r>
          </a:p>
          <a:p>
            <a:pPr algn="l">
              <a:lnSpc>
                <a:spcPct val="106000"/>
              </a:lnSpc>
              <a:spcBef>
                <a:spcPts val="0"/>
              </a:spcBef>
              <a:spcAft>
                <a:spcPts val="200"/>
              </a:spcAft>
            </a:pPr>
            <a:r>
              <a:rPr sz="1250" b="0" i="0">
                <a:solidFill>
                  <a:srgbClr val="8A93A3"/>
                </a:solidFill>
                <a:latin typeface="Consolas"/>
              </a:rPr>
              <a:t>mov rdx, 1</a:t>
            </a:r>
          </a:p>
          <a:p>
            <a:pPr algn="l">
              <a:lnSpc>
                <a:spcPct val="106000"/>
              </a:lnSpc>
              <a:spcBef>
                <a:spcPts val="0"/>
              </a:spcBef>
              <a:spcAft>
                <a:spcPts val="200"/>
              </a:spcAft>
            </a:pPr>
            <a:r>
              <a:rPr sz="1250" b="0" i="0">
                <a:solidFill>
                  <a:srgbClr val="8A93A3"/>
                </a:solidFill>
                <a:latin typeface="Consolas"/>
              </a:rPr>
              <a:t>syscall                 ; un octet suffit</a:t>
            </a:r>
          </a:p>
        </p:txBody>
      </p:sp>
      <p:sp>
        <p:nvSpPr>
          <p:cNvPr id="14" name="TextBox 13"/>
          <p:cNvSpPr txBox="1"/>
          <p:nvPr/>
        </p:nvSpPr>
        <p:spPr>
          <a:xfrm>
            <a:off x="11247120" y="6437376"/>
            <a:ext cx="731520" cy="320040"/>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1050" b="0" i="0">
                <a:solidFill>
                  <a:srgbClr val="6B728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i="0">
                <a:solidFill>
                  <a:srgbClr val="1F4E79"/>
                </a:solidFill>
                <a:latin typeface="Calibri"/>
              </a:rPr>
              <a:t>3 · DÉTOURNEMENT DU POINT D’ENTRÉE</a:t>
            </a:r>
          </a:p>
        </p:txBody>
      </p:sp>
      <p:sp>
        <p:nvSpPr>
          <p:cNvPr id="4" name="TextBox 3"/>
          <p:cNvSpPr txBox="1"/>
          <p:nvPr/>
        </p:nvSpPr>
        <p:spPr>
          <a:xfrm>
            <a:off x="685800" y="786384"/>
            <a:ext cx="10789920" cy="9144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i="0">
                <a:solidFill>
                  <a:srgbClr val="1A1A1A"/>
                </a:solidFill>
                <a:latin typeface="Calibri"/>
              </a:rPr>
              <a:t>On sauvegarde l’ancien e_entry, puis on écrit le nôtre</a:t>
            </a:r>
          </a:p>
        </p:txBody>
      </p:sp>
      <p:sp>
        <p:nvSpPr>
          <p:cNvPr id="5" name="TextBox 4"/>
          <p:cNvSpPr txBox="1"/>
          <p:nvPr/>
        </p:nvSpPr>
        <p:spPr>
          <a:xfrm>
            <a:off x="685800" y="2057400"/>
            <a:ext cx="5212080" cy="3931920"/>
          </a:xfrm>
          <a:prstGeom prst="rect">
            <a:avLst/>
          </a:prstGeom>
          <a:noFill/>
        </p:spPr>
        <p:txBody>
          <a:bodyPr wrap="square" anchor="t" lIns="25400" rIns="25400" tIns="12700" bIns="12700">
            <a:spAutoFit/>
          </a:bodyPr>
          <a:lstStyle/>
          <a:p>
            <a:pPr algn="l">
              <a:lnSpc>
                <a:spcPct val="108000"/>
              </a:lnSpc>
              <a:spcBef>
                <a:spcPts val="0"/>
              </a:spcBef>
              <a:spcAft>
                <a:spcPts val="1200"/>
              </a:spcAft>
            </a:pPr>
            <a:r>
              <a:rPr sz="1550" b="0" i="0">
                <a:solidFill>
                  <a:srgbClr val="6B7280"/>
                </a:solidFill>
                <a:latin typeface="Calibri"/>
              </a:rPr>
              <a:t>•  </a:t>
            </a:r>
            <a:r>
              <a:rPr sz="1550" b="0" i="0">
                <a:solidFill>
                  <a:srgbClr val="2B2F36"/>
                </a:solidFill>
                <a:latin typeface="Calibri"/>
              </a:rPr>
              <a:t>On sauvegarde l’ancienne valeur pour rendre la main au programme d’origine (diapo 8).</a:t>
            </a:r>
          </a:p>
          <a:p>
            <a:pPr algn="l">
              <a:lnSpc>
                <a:spcPct val="108000"/>
              </a:lnSpc>
              <a:spcBef>
                <a:spcPts val="0"/>
              </a:spcBef>
              <a:spcAft>
                <a:spcPts val="1200"/>
              </a:spcAft>
            </a:pPr>
            <a:r>
              <a:rPr sz="1550" b="0" i="0">
                <a:solidFill>
                  <a:srgbClr val="6B7280"/>
                </a:solidFill>
                <a:latin typeface="Calibri"/>
              </a:rPr>
              <a:t>•  </a:t>
            </a:r>
            <a:r>
              <a:rPr sz="1550" b="0" i="0">
                <a:solidFill>
                  <a:srgbClr val="2B2F36"/>
                </a:solidFill>
                <a:latin typeface="Calibri"/>
              </a:rPr>
              <a:t>lseek 0x18 → read dans old_entry_point.</a:t>
            </a:r>
          </a:p>
          <a:p>
            <a:pPr algn="l">
              <a:lnSpc>
                <a:spcPct val="108000"/>
              </a:lnSpc>
              <a:spcBef>
                <a:spcPts val="0"/>
              </a:spcBef>
              <a:spcAft>
                <a:spcPts val="1200"/>
              </a:spcAft>
            </a:pPr>
            <a:r>
              <a:rPr sz="1550" b="0" i="0">
                <a:solidFill>
                  <a:srgbClr val="6B7280"/>
                </a:solidFill>
                <a:latin typeface="Calibri"/>
              </a:rPr>
              <a:t>•  </a:t>
            </a:r>
            <a:r>
              <a:rPr sz="1550" b="0" i="0">
                <a:solidFill>
                  <a:srgbClr val="2B2F36"/>
                </a:solidFill>
                <a:latin typeface="Calibri"/>
              </a:rPr>
              <a:t>lseek 0x18 → write new_vaddr.</a:t>
            </a:r>
          </a:p>
          <a:p>
            <a:pPr algn="l">
              <a:lnSpc>
                <a:spcPct val="108000"/>
              </a:lnSpc>
              <a:spcBef>
                <a:spcPts val="0"/>
              </a:spcBef>
              <a:spcAft>
                <a:spcPts val="1200"/>
              </a:spcAft>
            </a:pPr>
            <a:r>
              <a:rPr sz="1550" b="0" i="0">
                <a:solidFill>
                  <a:srgbClr val="6B7280"/>
                </a:solidFill>
                <a:latin typeface="Calibri"/>
              </a:rPr>
              <a:t>•  </a:t>
            </a:r>
            <a:r>
              <a:rPr sz="1550" b="0" i="0">
                <a:solidFill>
                  <a:srgbClr val="2B2F36"/>
                </a:solidFill>
                <a:latin typeface="Calibri"/>
              </a:rPr>
              <a:t>Le point d’entrée pointe désormais vers notre code.</a:t>
            </a:r>
          </a:p>
        </p:txBody>
      </p:sp>
      <p:sp>
        <p:nvSpPr>
          <p:cNvPr id="6" name="Rounded Rectangle 5"/>
          <p:cNvSpPr/>
          <p:nvPr/>
        </p:nvSpPr>
        <p:spPr>
          <a:xfrm>
            <a:off x="6126480" y="2011680"/>
            <a:ext cx="5394960" cy="4023360"/>
          </a:xfrm>
          <a:prstGeom prst="roundRect">
            <a:avLst>
              <a:gd name="adj" fmla="val 4000"/>
            </a:avLst>
          </a:prstGeom>
          <a:solidFill>
            <a:srgbClr val="F4F5F7"/>
          </a:solidFill>
          <a:ln w="12700">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2121408"/>
            <a:ext cx="5029200" cy="27432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050" b="1" i="0">
                <a:solidFill>
                  <a:srgbClr val="6B7280"/>
                </a:solidFill>
                <a:latin typeface="Consolas"/>
              </a:rPr>
              <a:t>elf_patcher.inc — e_entry</a:t>
            </a:r>
          </a:p>
        </p:txBody>
      </p:sp>
      <p:sp>
        <p:nvSpPr>
          <p:cNvPr id="8" name="TextBox 7"/>
          <p:cNvSpPr txBox="1"/>
          <p:nvPr/>
        </p:nvSpPr>
        <p:spPr>
          <a:xfrm>
            <a:off x="6327648" y="2432304"/>
            <a:ext cx="4992624" cy="3493008"/>
          </a:xfrm>
          <a:prstGeom prst="rect">
            <a:avLst/>
          </a:prstGeom>
          <a:noFill/>
        </p:spPr>
        <p:txBody>
          <a:bodyPr wrap="square" anchor="t" lIns="25400" rIns="25400" tIns="12700" bIns="12700">
            <a:spAutoFit/>
          </a:bodyPr>
          <a:lstStyle/>
          <a:p>
            <a:pPr algn="l">
              <a:lnSpc>
                <a:spcPct val="106000"/>
              </a:lnSpc>
              <a:spcBef>
                <a:spcPts val="0"/>
              </a:spcBef>
              <a:spcAft>
                <a:spcPts val="200"/>
              </a:spcAft>
            </a:pPr>
            <a:r>
              <a:rPr sz="1300" b="0" i="0">
                <a:solidFill>
                  <a:srgbClr val="8A93A3"/>
                </a:solidFill>
                <a:latin typeface="Consolas"/>
              </a:rPr>
              <a:t>; sauvegarde de l'ancien e_entry</a:t>
            </a:r>
          </a:p>
          <a:p>
            <a:pPr algn="l">
              <a:lnSpc>
                <a:spcPct val="106000"/>
              </a:lnSpc>
              <a:spcBef>
                <a:spcPts val="0"/>
              </a:spcBef>
              <a:spcAft>
                <a:spcPts val="200"/>
              </a:spcAft>
            </a:pPr>
            <a:r>
              <a:rPr sz="1300" b="1" i="0">
                <a:solidFill>
                  <a:srgbClr val="1F4E79"/>
                </a:solidFill>
                <a:latin typeface="Consolas"/>
              </a:rPr>
              <a:t>mov rsi, 0x18            ; champ e_entry</a:t>
            </a:r>
          </a:p>
          <a:p>
            <a:pPr algn="l">
              <a:lnSpc>
                <a:spcPct val="106000"/>
              </a:lnSpc>
              <a:spcBef>
                <a:spcPts val="0"/>
              </a:spcBef>
              <a:spcAft>
                <a:spcPts val="200"/>
              </a:spcAft>
            </a:pPr>
            <a:r>
              <a:rPr sz="1300" b="0" i="0">
                <a:solidFill>
                  <a:srgbClr val="8A93A3"/>
                </a:solidFill>
                <a:latin typeface="Consolas"/>
              </a:rPr>
              <a:t>syscall                  ; lseek</a:t>
            </a:r>
          </a:p>
          <a:p>
            <a:pPr algn="l">
              <a:lnSpc>
                <a:spcPct val="106000"/>
              </a:lnSpc>
              <a:spcBef>
                <a:spcPts val="0"/>
              </a:spcBef>
              <a:spcAft>
                <a:spcPts val="200"/>
              </a:spcAft>
            </a:pPr>
            <a:r>
              <a:rPr sz="1300" b="1" i="0">
                <a:solidFill>
                  <a:srgbClr val="1F4E79"/>
                </a:solidFill>
                <a:latin typeface="Consolas"/>
              </a:rPr>
              <a:t>mov rsi, old_entry_point ; read 8o</a:t>
            </a:r>
          </a:p>
          <a:p>
            <a:pPr algn="l">
              <a:lnSpc>
                <a:spcPct val="106000"/>
              </a:lnSpc>
              <a:spcBef>
                <a:spcPts val="0"/>
              </a:spcBef>
              <a:spcAft>
                <a:spcPts val="200"/>
              </a:spcAft>
            </a:pPr>
            <a:r>
              <a:rPr sz="1300" b="0" i="0">
                <a:solidFill>
                  <a:srgbClr val="8A93A3"/>
                </a:solidFill>
                <a:latin typeface="Consolas"/>
              </a:rPr>
              <a:t>syscall</a:t>
            </a:r>
          </a:p>
          <a:p>
            <a:pPr algn="l">
              <a:lnSpc>
                <a:spcPct val="106000"/>
              </a:lnSpc>
              <a:spcBef>
                <a:spcPts val="0"/>
              </a:spcBef>
              <a:spcAft>
                <a:spcPts val="200"/>
              </a:spcAft>
            </a:pPr>
            <a:r>
              <a:rPr sz="1300" b="0" i="0">
                <a:solidFill>
                  <a:srgbClr val="8A93A3"/>
                </a:solidFill>
                <a:latin typeface="Consolas"/>
              </a:rPr>
              <a:t> </a:t>
            </a:r>
          </a:p>
          <a:p>
            <a:pPr algn="l">
              <a:lnSpc>
                <a:spcPct val="106000"/>
              </a:lnSpc>
              <a:spcBef>
                <a:spcPts val="0"/>
              </a:spcBef>
              <a:spcAft>
                <a:spcPts val="200"/>
              </a:spcAft>
            </a:pPr>
            <a:r>
              <a:rPr sz="1300" b="0" i="0">
                <a:solidFill>
                  <a:srgbClr val="8A93A3"/>
                </a:solidFill>
                <a:latin typeface="Consolas"/>
              </a:rPr>
              <a:t>; on ecrit NOTRE point d'entree</a:t>
            </a:r>
          </a:p>
          <a:p>
            <a:pPr algn="l">
              <a:lnSpc>
                <a:spcPct val="106000"/>
              </a:lnSpc>
              <a:spcBef>
                <a:spcPts val="0"/>
              </a:spcBef>
              <a:spcAft>
                <a:spcPts val="200"/>
              </a:spcAft>
            </a:pPr>
            <a:r>
              <a:rPr sz="1300" b="0" i="0">
                <a:solidFill>
                  <a:srgbClr val="8A93A3"/>
                </a:solidFill>
                <a:latin typeface="Consolas"/>
              </a:rPr>
              <a:t>mov rsi, 0x18            ; lseek</a:t>
            </a:r>
          </a:p>
          <a:p>
            <a:pPr algn="l">
              <a:lnSpc>
                <a:spcPct val="106000"/>
              </a:lnSpc>
              <a:spcBef>
                <a:spcPts val="0"/>
              </a:spcBef>
              <a:spcAft>
                <a:spcPts val="200"/>
              </a:spcAft>
            </a:pPr>
            <a:r>
              <a:rPr sz="1300" b="1" i="0">
                <a:solidFill>
                  <a:srgbClr val="1F4E79"/>
                </a:solidFill>
                <a:latin typeface="Consolas"/>
              </a:rPr>
              <a:t>mov rsi, new_vaddr       ; write 8o</a:t>
            </a:r>
          </a:p>
          <a:p>
            <a:pPr algn="l">
              <a:lnSpc>
                <a:spcPct val="106000"/>
              </a:lnSpc>
              <a:spcBef>
                <a:spcPts val="0"/>
              </a:spcBef>
              <a:spcAft>
                <a:spcPts val="200"/>
              </a:spcAft>
            </a:pPr>
            <a:r>
              <a:rPr sz="1300" b="0" i="0">
                <a:solidFill>
                  <a:srgbClr val="8A93A3"/>
                </a:solidFill>
                <a:latin typeface="Consolas"/>
              </a:rPr>
              <a:t>syscall</a:t>
            </a:r>
          </a:p>
        </p:txBody>
      </p:sp>
      <p:sp>
        <p:nvSpPr>
          <p:cNvPr id="9" name="TextBox 8"/>
          <p:cNvSpPr txBox="1"/>
          <p:nvPr/>
        </p:nvSpPr>
        <p:spPr>
          <a:xfrm>
            <a:off x="11247120" y="6437376"/>
            <a:ext cx="731520" cy="320040"/>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1050" b="0" i="0">
                <a:solidFill>
                  <a:srgbClr val="6B728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i="0">
                <a:solidFill>
                  <a:srgbClr val="1F4E79"/>
                </a:solidFill>
                <a:latin typeface="Calibri"/>
              </a:rPr>
              <a:t>3 · ADRESSE &amp; ALIGNEMENT — la contrainte du chargeur</a:t>
            </a:r>
          </a:p>
        </p:txBody>
      </p:sp>
      <p:sp>
        <p:nvSpPr>
          <p:cNvPr id="4" name="TextBox 3"/>
          <p:cNvSpPr txBox="1"/>
          <p:nvPr/>
        </p:nvSpPr>
        <p:spPr>
          <a:xfrm>
            <a:off x="685800" y="786384"/>
            <a:ext cx="10789920" cy="9144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i="0">
                <a:solidFill>
                  <a:srgbClr val="1A1A1A"/>
                </a:solidFill>
                <a:latin typeface="Calibri"/>
              </a:rPr>
              <a:t>0xc000000 et 0x1000 : pourquoi ces valeurs</a:t>
            </a:r>
          </a:p>
        </p:txBody>
      </p:sp>
      <p:sp>
        <p:nvSpPr>
          <p:cNvPr id="5" name="Rounded Rectangle 4"/>
          <p:cNvSpPr/>
          <p:nvPr/>
        </p:nvSpPr>
        <p:spPr>
          <a:xfrm>
            <a:off x="685800" y="2103120"/>
            <a:ext cx="5394960" cy="2103120"/>
          </a:xfrm>
          <a:prstGeom prst="roundRect">
            <a:avLst>
              <a:gd name="adj" fmla="val 4000"/>
            </a:avLst>
          </a:prstGeom>
          <a:solidFill>
            <a:srgbClr val="F4F5F7"/>
          </a:solidFill>
          <a:ln w="12700">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212848"/>
            <a:ext cx="5029200" cy="27432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050" b="1" i="0">
                <a:solidFill>
                  <a:srgbClr val="6B7280"/>
                </a:solidFill>
                <a:latin typeface="Consolas"/>
              </a:rPr>
              <a:t>data.inc + elf_patcher.inc</a:t>
            </a:r>
          </a:p>
        </p:txBody>
      </p:sp>
      <p:sp>
        <p:nvSpPr>
          <p:cNvPr id="7" name="TextBox 6"/>
          <p:cNvSpPr txBox="1"/>
          <p:nvPr/>
        </p:nvSpPr>
        <p:spPr>
          <a:xfrm>
            <a:off x="886968" y="2523744"/>
            <a:ext cx="4992624" cy="1572767"/>
          </a:xfrm>
          <a:prstGeom prst="rect">
            <a:avLst/>
          </a:prstGeom>
          <a:noFill/>
        </p:spPr>
        <p:txBody>
          <a:bodyPr wrap="square" anchor="t" lIns="25400" rIns="25400" tIns="12700" bIns="12700">
            <a:spAutoFit/>
          </a:bodyPr>
          <a:lstStyle/>
          <a:p>
            <a:pPr algn="l">
              <a:lnSpc>
                <a:spcPct val="106000"/>
              </a:lnSpc>
              <a:spcBef>
                <a:spcPts val="0"/>
              </a:spcBef>
              <a:spcAft>
                <a:spcPts val="200"/>
              </a:spcAft>
            </a:pPr>
            <a:r>
              <a:rPr sz="1250" b="0" i="0">
                <a:solidFill>
                  <a:srgbClr val="8A93A3"/>
                </a:solidFill>
                <a:latin typeface="Consolas"/>
              </a:rPr>
              <a:t>; data.inc</a:t>
            </a:r>
          </a:p>
          <a:p>
            <a:pPr algn="l">
              <a:lnSpc>
                <a:spcPct val="106000"/>
              </a:lnSpc>
              <a:spcBef>
                <a:spcPts val="0"/>
              </a:spcBef>
              <a:spcAft>
                <a:spcPts val="200"/>
              </a:spcAft>
            </a:pPr>
            <a:r>
              <a:rPr sz="1250" b="1" i="0">
                <a:solidFill>
                  <a:srgbClr val="1F4E79"/>
                </a:solidFill>
                <a:latin typeface="Consolas"/>
              </a:rPr>
              <a:t>exagereted  dq 0xc000000  ; ~192 Mio</a:t>
            </a:r>
          </a:p>
          <a:p>
            <a:pPr algn="l">
              <a:lnSpc>
                <a:spcPct val="106000"/>
              </a:lnSpc>
              <a:spcBef>
                <a:spcPts val="0"/>
              </a:spcBef>
              <a:spcAft>
                <a:spcPts val="200"/>
              </a:spcAft>
            </a:pPr>
            <a:r>
              <a:rPr sz="1250" b="1" i="0">
                <a:solidFill>
                  <a:srgbClr val="1F4E79"/>
                </a:solidFill>
                <a:latin typeface="Consolas"/>
              </a:rPr>
              <a:t>p_align     dq 0x1000     ; page 4096</a:t>
            </a:r>
          </a:p>
          <a:p>
            <a:pPr algn="l">
              <a:lnSpc>
                <a:spcPct val="106000"/>
              </a:lnSpc>
              <a:spcBef>
                <a:spcPts val="0"/>
              </a:spcBef>
              <a:spcAft>
                <a:spcPts val="200"/>
              </a:spcAft>
            </a:pPr>
            <a:r>
              <a:rPr sz="1250" b="0" i="0">
                <a:solidFill>
                  <a:srgbClr val="8A93A3"/>
                </a:solidFill>
                <a:latin typeface="Consolas"/>
              </a:rPr>
              <a:t>; elf_patcher.inc</a:t>
            </a:r>
          </a:p>
          <a:p>
            <a:pPr algn="l">
              <a:lnSpc>
                <a:spcPct val="106000"/>
              </a:lnSpc>
              <a:spcBef>
                <a:spcPts val="0"/>
              </a:spcBef>
              <a:spcAft>
                <a:spcPts val="200"/>
              </a:spcAft>
            </a:pPr>
            <a:r>
              <a:rPr sz="1250" b="1" i="0">
                <a:solidFill>
                  <a:srgbClr val="1F4E79"/>
                </a:solidFill>
                <a:latin typeface="Consolas"/>
              </a:rPr>
              <a:t>add rax, [file_size] ; +0xc000000</a:t>
            </a:r>
          </a:p>
          <a:p>
            <a:pPr algn="l">
              <a:lnSpc>
                <a:spcPct val="106000"/>
              </a:lnSpc>
              <a:spcBef>
                <a:spcPts val="0"/>
              </a:spcBef>
              <a:spcAft>
                <a:spcPts val="200"/>
              </a:spcAft>
            </a:pPr>
            <a:r>
              <a:rPr sz="1250" b="0" i="0">
                <a:solidFill>
                  <a:srgbClr val="8A93A3"/>
                </a:solidFill>
                <a:latin typeface="Consolas"/>
              </a:rPr>
              <a:t>mov [new_vaddr], rax</a:t>
            </a:r>
          </a:p>
        </p:txBody>
      </p:sp>
      <p:sp>
        <p:nvSpPr>
          <p:cNvPr id="8" name="TextBox 7"/>
          <p:cNvSpPr txBox="1"/>
          <p:nvPr/>
        </p:nvSpPr>
        <p:spPr>
          <a:xfrm>
            <a:off x="685800" y="4434840"/>
            <a:ext cx="5394960" cy="1920240"/>
          </a:xfrm>
          <a:prstGeom prst="rect">
            <a:avLst/>
          </a:prstGeom>
          <a:noFill/>
        </p:spPr>
        <p:txBody>
          <a:bodyPr wrap="square" anchor="t" lIns="25400" rIns="25400" tIns="12700" bIns="12700">
            <a:spAutoFit/>
          </a:bodyPr>
          <a:lstStyle/>
          <a:p>
            <a:pPr algn="l">
              <a:lnSpc>
                <a:spcPct val="110000"/>
              </a:lnSpc>
              <a:spcBef>
                <a:spcPts val="0"/>
              </a:spcBef>
              <a:spcAft>
                <a:spcPts val="300"/>
              </a:spcAft>
            </a:pPr>
            <a:r>
              <a:rPr sz="1500" b="1" i="0">
                <a:solidFill>
                  <a:srgbClr val="1A1A1A"/>
                </a:solidFill>
                <a:latin typeface="Calibri"/>
              </a:rPr>
              <a:t>Pourquoi 0xc000000 (≈ 192 Mio) ?</a:t>
            </a:r>
          </a:p>
          <a:p>
            <a:pPr algn="l">
              <a:lnSpc>
                <a:spcPct val="110000"/>
              </a:lnSpc>
              <a:spcBef>
                <a:spcPts val="0"/>
              </a:spcBef>
              <a:spcAft>
                <a:spcPts val="300"/>
              </a:spcAft>
            </a:pPr>
            <a:r>
              <a:rPr sz="1350" b="0" i="0">
                <a:solidFill>
                  <a:srgbClr val="2B2F36"/>
                </a:solidFill>
                <a:latin typeface="Calibri"/>
              </a:rPr>
              <a:t>•  Éloigner le segment → éviter tout chevauchement.</a:t>
            </a:r>
          </a:p>
          <a:p>
            <a:pPr algn="l">
              <a:lnSpc>
                <a:spcPct val="110000"/>
              </a:lnSpc>
              <a:spcBef>
                <a:spcPts val="0"/>
              </a:spcBef>
              <a:spcAft>
                <a:spcPts val="300"/>
              </a:spcAft>
            </a:pPr>
            <a:r>
              <a:rPr sz="1350" b="0" i="0">
                <a:solidFill>
                  <a:srgbClr val="2B2F36"/>
                </a:solidFill>
                <a:latin typeface="Calibri"/>
              </a:rPr>
              <a:t>•  Le chargeur exige (p_vaddr − p_offset) multiple</a:t>
            </a:r>
          </a:p>
          <a:p>
            <a:pPr algn="l">
              <a:lnSpc>
                <a:spcPct val="110000"/>
              </a:lnSpc>
              <a:spcBef>
                <a:spcPts val="0"/>
              </a:spcBef>
              <a:spcAft>
                <a:spcPts val="300"/>
              </a:spcAft>
            </a:pPr>
            <a:r>
              <a:rPr sz="1350" b="0" i="0">
                <a:solidFill>
                  <a:srgbClr val="2B2F36"/>
                </a:solidFill>
                <a:latin typeface="Calibri"/>
              </a:rPr>
              <a:t>   de p_align. 0xc000000 est multiple de 0x1000 :</a:t>
            </a:r>
          </a:p>
          <a:p>
            <a:pPr algn="l">
              <a:lnSpc>
                <a:spcPct val="110000"/>
              </a:lnSpc>
              <a:spcBef>
                <a:spcPts val="0"/>
              </a:spcBef>
              <a:spcAft>
                <a:spcPts val="300"/>
              </a:spcAft>
            </a:pPr>
            <a:r>
              <a:rPr sz="1350" b="0" i="0">
                <a:solidFill>
                  <a:srgbClr val="2B2F36"/>
                </a:solidFill>
                <a:latin typeface="Calibri"/>
              </a:rPr>
              <a:t>   la congruence est respectée, le binaire se lance.</a:t>
            </a:r>
          </a:p>
        </p:txBody>
      </p:sp>
      <p:pic>
        <p:nvPicPr>
          <p:cNvPr id="9" name="Picture 8" descr="mapping.png"/>
          <p:cNvPicPr>
            <a:picLocks noChangeAspect="1"/>
          </p:cNvPicPr>
          <p:nvPr/>
        </p:nvPicPr>
        <p:blipFill>
          <a:blip r:embed="rId2"/>
          <a:stretch>
            <a:fillRect/>
          </a:stretch>
        </p:blipFill>
        <p:spPr>
          <a:xfrm>
            <a:off x="7269480" y="1965960"/>
            <a:ext cx="3977639" cy="3993743"/>
          </a:xfrm>
          <a:prstGeom prst="rect">
            <a:avLst/>
          </a:prstGeom>
          <a:ln w="9525">
            <a:solidFill>
              <a:srgbClr val="E2E5EA"/>
            </a:solidFill>
          </a:ln>
        </p:spPr>
      </p:pic>
      <p:sp>
        <p:nvSpPr>
          <p:cNvPr id="10" name="TextBox 9"/>
          <p:cNvSpPr txBox="1"/>
          <p:nvPr/>
        </p:nvSpPr>
        <p:spPr>
          <a:xfrm>
            <a:off x="6400800" y="5989320"/>
            <a:ext cx="5394960" cy="502920"/>
          </a:xfrm>
          <a:prstGeom prst="rect">
            <a:avLst/>
          </a:prstGeom>
          <a:noFill/>
        </p:spPr>
        <p:txBody>
          <a:bodyPr wrap="square" anchor="t" lIns="25400" rIns="25400" tIns="12700" bIns="12700">
            <a:spAutoFit/>
          </a:bodyPr>
          <a:lstStyle/>
          <a:p>
            <a:pPr algn="l">
              <a:lnSpc>
                <a:spcPct val="105000"/>
              </a:lnSpc>
              <a:spcBef>
                <a:spcPts val="0"/>
              </a:spcBef>
              <a:spcAft>
                <a:spcPts val="600"/>
              </a:spcAft>
            </a:pPr>
            <a:r>
              <a:rPr sz="1050" b="0" i="1">
                <a:solidFill>
                  <a:srgbClr val="6B7280"/>
                </a:solidFill>
                <a:latin typeface="Calibri"/>
              </a:rPr>
              <a:t>Mapping disque → mémoire — cours ASM DEV 2, slide 22 (Intezer). Noter les zones « alignment ».</a:t>
            </a:r>
          </a:p>
        </p:txBody>
      </p:sp>
      <p:sp>
        <p:nvSpPr>
          <p:cNvPr id="11" name="TextBox 10"/>
          <p:cNvSpPr txBox="1"/>
          <p:nvPr/>
        </p:nvSpPr>
        <p:spPr>
          <a:xfrm>
            <a:off x="11247120" y="6437376"/>
            <a:ext cx="731520" cy="320040"/>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1050" b="0" i="0">
                <a:solidFill>
                  <a:srgbClr val="6B728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i="0">
                <a:solidFill>
                  <a:srgbClr val="1F4E79"/>
                </a:solidFill>
                <a:latin typeface="Calibri"/>
              </a:rPr>
              <a:t>4 · LA CHARGE INJECTÉE</a:t>
            </a:r>
          </a:p>
        </p:txBody>
      </p:sp>
      <p:sp>
        <p:nvSpPr>
          <p:cNvPr id="4" name="TextBox 3"/>
          <p:cNvSpPr txBox="1"/>
          <p:nvPr/>
        </p:nvSpPr>
        <p:spPr>
          <a:xfrm>
            <a:off x="685800" y="786384"/>
            <a:ext cx="10789920" cy="9144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i="0">
                <a:solidFill>
                  <a:srgbClr val="1A1A1A"/>
                </a:solidFill>
                <a:latin typeface="Calibri"/>
              </a:rPr>
              <a:t>Reverse shell : l’IP et le port soudés dans le code</a:t>
            </a:r>
          </a:p>
        </p:txBody>
      </p:sp>
      <p:sp>
        <p:nvSpPr>
          <p:cNvPr id="5" name="TextBox 4"/>
          <p:cNvSpPr txBox="1"/>
          <p:nvPr/>
        </p:nvSpPr>
        <p:spPr>
          <a:xfrm>
            <a:off x="685800" y="2011680"/>
            <a:ext cx="10789920" cy="822960"/>
          </a:xfrm>
          <a:prstGeom prst="rect">
            <a:avLst/>
          </a:prstGeom>
          <a:noFill/>
        </p:spPr>
        <p:txBody>
          <a:bodyPr wrap="square" anchor="t" lIns="25400" rIns="25400" tIns="12700" bIns="12700">
            <a:spAutoFit/>
          </a:bodyPr>
          <a:lstStyle/>
          <a:p>
            <a:pPr algn="l">
              <a:lnSpc>
                <a:spcPct val="115000"/>
              </a:lnSpc>
              <a:spcBef>
                <a:spcPts val="0"/>
              </a:spcBef>
              <a:spcAft>
                <a:spcPts val="600"/>
              </a:spcAft>
            </a:pPr>
            <a:r>
              <a:rPr sz="1550" b="0" i="0">
                <a:solidFill>
                  <a:srgbClr val="2B2F36"/>
                </a:solidFill>
                <a:latin typeface="Calibri"/>
              </a:rPr>
              <a:t>L’IP et le port, saisis au lancement, complètent une instruction mov rcx qui construit la structure réseau (famille + port + adresse).</a:t>
            </a:r>
          </a:p>
        </p:txBody>
      </p:sp>
      <p:sp>
        <p:nvSpPr>
          <p:cNvPr id="6" name="Rounded Rectangle 5"/>
          <p:cNvSpPr/>
          <p:nvPr/>
        </p:nvSpPr>
        <p:spPr>
          <a:xfrm>
            <a:off x="685800" y="2926080"/>
            <a:ext cx="5349240" cy="2286000"/>
          </a:xfrm>
          <a:prstGeom prst="roundRect">
            <a:avLst>
              <a:gd name="adj" fmla="val 4000"/>
            </a:avLst>
          </a:prstGeom>
          <a:solidFill>
            <a:srgbClr val="F4F5F7"/>
          </a:solidFill>
          <a:ln w="12700">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035808"/>
            <a:ext cx="4983479" cy="27432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050" b="1" i="0">
                <a:solidFill>
                  <a:srgbClr val="6B7280"/>
                </a:solidFill>
                <a:latin typeface="Consolas"/>
              </a:rPr>
              <a:t>input.inc + injector.inc</a:t>
            </a:r>
          </a:p>
        </p:txBody>
      </p:sp>
      <p:sp>
        <p:nvSpPr>
          <p:cNvPr id="8" name="TextBox 7"/>
          <p:cNvSpPr txBox="1"/>
          <p:nvPr/>
        </p:nvSpPr>
        <p:spPr>
          <a:xfrm>
            <a:off x="886968" y="3346704"/>
            <a:ext cx="4946903" cy="1755648"/>
          </a:xfrm>
          <a:prstGeom prst="rect">
            <a:avLst/>
          </a:prstGeom>
          <a:noFill/>
        </p:spPr>
        <p:txBody>
          <a:bodyPr wrap="square" anchor="t" lIns="25400" rIns="25400" tIns="12700" bIns="12700">
            <a:spAutoFit/>
          </a:bodyPr>
          <a:lstStyle/>
          <a:p>
            <a:pPr algn="l">
              <a:lnSpc>
                <a:spcPct val="106000"/>
              </a:lnSpc>
              <a:spcBef>
                <a:spcPts val="0"/>
              </a:spcBef>
              <a:spcAft>
                <a:spcPts val="200"/>
              </a:spcAft>
            </a:pPr>
            <a:r>
              <a:rPr sz="1200" b="0" i="0">
                <a:solidFill>
                  <a:srgbClr val="8A93A3"/>
                </a:solidFill>
                <a:latin typeface="Consolas"/>
              </a:rPr>
              <a:t>; port en big-endian (ordre reseau)</a:t>
            </a:r>
          </a:p>
          <a:p>
            <a:pPr algn="l">
              <a:lnSpc>
                <a:spcPct val="106000"/>
              </a:lnSpc>
              <a:spcBef>
                <a:spcPts val="0"/>
              </a:spcBef>
              <a:spcAft>
                <a:spcPts val="200"/>
              </a:spcAft>
            </a:pPr>
            <a:r>
              <a:rPr sz="1200" b="1" i="0">
                <a:solidFill>
                  <a:srgbClr val="1F4E79"/>
                </a:solidFill>
                <a:latin typeface="Consolas"/>
              </a:rPr>
              <a:t>xchg al, ah</a:t>
            </a:r>
          </a:p>
          <a:p>
            <a:pPr algn="l">
              <a:lnSpc>
                <a:spcPct val="106000"/>
              </a:lnSpc>
              <a:spcBef>
                <a:spcPts val="0"/>
              </a:spcBef>
              <a:spcAft>
                <a:spcPts val="200"/>
              </a:spcAft>
            </a:pPr>
            <a:r>
              <a:rPr sz="1200" b="0" i="0">
                <a:solidFill>
                  <a:srgbClr val="8A93A3"/>
                </a:solidFill>
                <a:latin typeface="Consolas"/>
              </a:rPr>
              <a:t>mov [port_result], ax</a:t>
            </a:r>
          </a:p>
          <a:p>
            <a:pPr algn="l">
              <a:lnSpc>
                <a:spcPct val="106000"/>
              </a:lnSpc>
              <a:spcBef>
                <a:spcPts val="0"/>
              </a:spcBef>
              <a:spcAft>
                <a:spcPts val="200"/>
              </a:spcAft>
            </a:pPr>
            <a:r>
              <a:rPr sz="1200" b="0" i="0">
                <a:solidFill>
                  <a:srgbClr val="8A93A3"/>
                </a:solidFill>
                <a:latin typeface="Consolas"/>
              </a:rPr>
              <a:t>; on soude port (2o) puis IP (4o)</a:t>
            </a:r>
          </a:p>
          <a:p>
            <a:pPr algn="l">
              <a:lnSpc>
                <a:spcPct val="106000"/>
              </a:lnSpc>
              <a:spcBef>
                <a:spcPts val="0"/>
              </a:spcBef>
              <a:spcAft>
                <a:spcPts val="200"/>
              </a:spcAft>
            </a:pPr>
            <a:r>
              <a:rPr sz="1200" b="1" i="0">
                <a:solidFill>
                  <a:srgbClr val="1F4E79"/>
                </a:solidFill>
                <a:latin typeface="Consolas"/>
              </a:rPr>
              <a:t>write port_result  (2 octets)</a:t>
            </a:r>
          </a:p>
          <a:p>
            <a:pPr algn="l">
              <a:lnSpc>
                <a:spcPct val="106000"/>
              </a:lnSpc>
              <a:spcBef>
                <a:spcPts val="0"/>
              </a:spcBef>
              <a:spcAft>
                <a:spcPts val="200"/>
              </a:spcAft>
            </a:pPr>
            <a:r>
              <a:rPr sz="1200" b="1" i="0">
                <a:solidFill>
                  <a:srgbClr val="1F4E79"/>
                </a:solidFill>
                <a:latin typeface="Consolas"/>
              </a:rPr>
              <a:t>write ip_result    (4 octets)</a:t>
            </a:r>
          </a:p>
        </p:txBody>
      </p:sp>
      <p:sp>
        <p:nvSpPr>
          <p:cNvPr id="9" name="Rounded Rectangle 8"/>
          <p:cNvSpPr/>
          <p:nvPr/>
        </p:nvSpPr>
        <p:spPr>
          <a:xfrm>
            <a:off x="6309360" y="2926080"/>
            <a:ext cx="5212080" cy="2286000"/>
          </a:xfrm>
          <a:prstGeom prst="roundRect">
            <a:avLst>
              <a:gd name="adj" fmla="val 4000"/>
            </a:avLst>
          </a:prstGeom>
          <a:solidFill>
            <a:srgbClr val="F4F5F7"/>
          </a:solidFill>
          <a:ln w="12700">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3035808"/>
            <a:ext cx="4846320" cy="27432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050" b="1" i="0">
                <a:solidFill>
                  <a:srgbClr val="6B7280"/>
                </a:solidFill>
                <a:latin typeface="Consolas"/>
              </a:rPr>
              <a:t>data.inc — reverse_shell_1 / _2</a:t>
            </a:r>
          </a:p>
        </p:txBody>
      </p:sp>
      <p:sp>
        <p:nvSpPr>
          <p:cNvPr id="11" name="TextBox 10"/>
          <p:cNvSpPr txBox="1"/>
          <p:nvPr/>
        </p:nvSpPr>
        <p:spPr>
          <a:xfrm>
            <a:off x="6510528" y="3346704"/>
            <a:ext cx="4809744" cy="1755648"/>
          </a:xfrm>
          <a:prstGeom prst="rect">
            <a:avLst/>
          </a:prstGeom>
          <a:noFill/>
        </p:spPr>
        <p:txBody>
          <a:bodyPr wrap="square" anchor="t" lIns="25400" rIns="25400" tIns="12700" bIns="12700">
            <a:spAutoFit/>
          </a:bodyPr>
          <a:lstStyle/>
          <a:p>
            <a:pPr algn="l">
              <a:lnSpc>
                <a:spcPct val="106000"/>
              </a:lnSpc>
              <a:spcBef>
                <a:spcPts val="0"/>
              </a:spcBef>
              <a:spcAft>
                <a:spcPts val="200"/>
              </a:spcAft>
            </a:pPr>
            <a:r>
              <a:rPr sz="1200" b="0" i="0">
                <a:solidFill>
                  <a:srgbClr val="8A93A3"/>
                </a:solidFill>
                <a:latin typeface="Consolas"/>
              </a:rPr>
              <a:t>; octets du shellcode (data.inc)</a:t>
            </a:r>
          </a:p>
          <a:p>
            <a:pPr algn="l">
              <a:lnSpc>
                <a:spcPct val="106000"/>
              </a:lnSpc>
              <a:spcBef>
                <a:spcPts val="0"/>
              </a:spcBef>
              <a:spcAft>
                <a:spcPts val="200"/>
              </a:spcAft>
            </a:pPr>
            <a:r>
              <a:rPr sz="1200" b="0" i="0">
                <a:solidFill>
                  <a:srgbClr val="8A93A3"/>
                </a:solidFill>
                <a:latin typeface="Consolas"/>
              </a:rPr>
              <a:t>rax=41 socket  -&gt;  syscall</a:t>
            </a:r>
          </a:p>
          <a:p>
            <a:pPr algn="l">
              <a:lnSpc>
                <a:spcPct val="106000"/>
              </a:lnSpc>
              <a:spcBef>
                <a:spcPts val="0"/>
              </a:spcBef>
              <a:spcAft>
                <a:spcPts val="200"/>
              </a:spcAft>
            </a:pPr>
            <a:r>
              <a:rPr sz="1200" b="1" i="0">
                <a:solidFill>
                  <a:srgbClr val="1F4E79"/>
                </a:solidFill>
                <a:latin typeface="Consolas"/>
              </a:rPr>
              <a:t>connect (42) vers IP:port</a:t>
            </a:r>
          </a:p>
          <a:p>
            <a:pPr algn="l">
              <a:lnSpc>
                <a:spcPct val="106000"/>
              </a:lnSpc>
              <a:spcBef>
                <a:spcPts val="0"/>
              </a:spcBef>
              <a:spcAft>
                <a:spcPts val="200"/>
              </a:spcAft>
            </a:pPr>
            <a:r>
              <a:rPr sz="1200" b="1" i="0">
                <a:solidFill>
                  <a:srgbClr val="1F4E79"/>
                </a:solidFill>
                <a:latin typeface="Consolas"/>
              </a:rPr>
              <a:t>dup2 (33) stdin/stdout/stderr</a:t>
            </a:r>
          </a:p>
          <a:p>
            <a:pPr algn="l">
              <a:lnSpc>
                <a:spcPct val="106000"/>
              </a:lnSpc>
              <a:spcBef>
                <a:spcPts val="0"/>
              </a:spcBef>
              <a:spcAft>
                <a:spcPts val="200"/>
              </a:spcAft>
            </a:pPr>
            <a:r>
              <a:rPr sz="1200" b="1" i="0">
                <a:solidFill>
                  <a:srgbClr val="1F4E79"/>
                </a:solidFill>
                <a:latin typeface="Consolas"/>
              </a:rPr>
              <a:t>execve("/bin/sh", 59)</a:t>
            </a:r>
          </a:p>
        </p:txBody>
      </p:sp>
      <p:sp>
        <p:nvSpPr>
          <p:cNvPr id="12" name="TextBox 11"/>
          <p:cNvSpPr txBox="1"/>
          <p:nvPr/>
        </p:nvSpPr>
        <p:spPr>
          <a:xfrm>
            <a:off x="685800" y="5486400"/>
            <a:ext cx="1078992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450" b="0" i="0">
                <a:solidFill>
                  <a:srgbClr val="2B2F36"/>
                </a:solidFill>
                <a:latin typeface="Calibri"/>
              </a:rPr>
              <a:t>Minimum du sujet : </a:t>
            </a:r>
            <a:r>
              <a:rPr sz="1450" b="1" i="0">
                <a:solidFill>
                  <a:srgbClr val="6B7280"/>
                </a:solidFill>
                <a:latin typeface="Calibri"/>
              </a:rPr>
              <a:t>bind shell</a:t>
            </a:r>
            <a:r>
              <a:rPr sz="1450" b="0" i="0">
                <a:solidFill>
                  <a:srgbClr val="2B2F36"/>
                </a:solidFill>
                <a:latin typeface="Calibri"/>
              </a:rPr>
              <a:t>     Notre code : </a:t>
            </a:r>
            <a:r>
              <a:rPr sz="1450" b="1" i="0">
                <a:solidFill>
                  <a:srgbClr val="1F4E79"/>
                </a:solidFill>
                <a:latin typeface="Calibri"/>
              </a:rPr>
              <a:t>reverse shell</a:t>
            </a:r>
            <a:r>
              <a:rPr sz="1450" b="0" i="0">
                <a:solidFill>
                  <a:srgbClr val="2B2F36"/>
                </a:solidFill>
                <a:latin typeface="Calibri"/>
              </a:rPr>
              <a:t>  (connexion sortante) — bonus.</a:t>
            </a:r>
          </a:p>
        </p:txBody>
      </p:sp>
      <p:sp>
        <p:nvSpPr>
          <p:cNvPr id="13" name="TextBox 12"/>
          <p:cNvSpPr txBox="1"/>
          <p:nvPr/>
        </p:nvSpPr>
        <p:spPr>
          <a:xfrm>
            <a:off x="11247120" y="6437376"/>
            <a:ext cx="731520" cy="320040"/>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1050" b="0" i="0">
                <a:solidFill>
                  <a:srgbClr val="6B728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i="0">
                <a:solidFill>
                  <a:srgbClr val="1F4E79"/>
                </a:solidFill>
                <a:latin typeface="Calibri"/>
              </a:rPr>
              <a:t>4 · RENDRE LA MAIN  (fait vérifié)</a:t>
            </a:r>
          </a:p>
        </p:txBody>
      </p:sp>
      <p:sp>
        <p:nvSpPr>
          <p:cNvPr id="4" name="TextBox 3"/>
          <p:cNvSpPr txBox="1"/>
          <p:nvPr/>
        </p:nvSpPr>
        <p:spPr>
          <a:xfrm>
            <a:off x="685800" y="786384"/>
            <a:ext cx="10789920" cy="9144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i="0">
                <a:solidFill>
                  <a:srgbClr val="1A1A1A"/>
                </a:solidFill>
                <a:latin typeface="Calibri"/>
              </a:rPr>
              <a:t>Après la charge : exécuter, puis sauter à l’original</a:t>
            </a:r>
          </a:p>
        </p:txBody>
      </p:sp>
      <p:sp>
        <p:nvSpPr>
          <p:cNvPr id="5" name="Rounded Rectangle 4"/>
          <p:cNvSpPr/>
          <p:nvPr/>
        </p:nvSpPr>
        <p:spPr>
          <a:xfrm>
            <a:off x="685800" y="2057400"/>
            <a:ext cx="5486400" cy="2011680"/>
          </a:xfrm>
          <a:prstGeom prst="roundRect">
            <a:avLst>
              <a:gd name="adj" fmla="val 4000"/>
            </a:avLst>
          </a:prstGeom>
          <a:solidFill>
            <a:srgbClr val="F4F5F7"/>
          </a:solidFill>
          <a:ln w="12700">
            <a:solidFill>
              <a:srgbClr val="E2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67128"/>
            <a:ext cx="5120640" cy="27432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050" b="1" i="0">
                <a:solidFill>
                  <a:srgbClr val="6B7280"/>
                </a:solidFill>
                <a:latin typeface="Consolas"/>
              </a:rPr>
              <a:t>data.inc + injector.inc</a:t>
            </a:r>
          </a:p>
        </p:txBody>
      </p:sp>
      <p:sp>
        <p:nvSpPr>
          <p:cNvPr id="7" name="TextBox 6"/>
          <p:cNvSpPr txBox="1"/>
          <p:nvPr/>
        </p:nvSpPr>
        <p:spPr>
          <a:xfrm>
            <a:off x="886968" y="2478024"/>
            <a:ext cx="5084064" cy="1481328"/>
          </a:xfrm>
          <a:prstGeom prst="rect">
            <a:avLst/>
          </a:prstGeom>
          <a:noFill/>
        </p:spPr>
        <p:txBody>
          <a:bodyPr wrap="square" anchor="t" lIns="25400" rIns="25400" tIns="12700" bIns="12700">
            <a:spAutoFit/>
          </a:bodyPr>
          <a:lstStyle/>
          <a:p>
            <a:pPr algn="l">
              <a:lnSpc>
                <a:spcPct val="106000"/>
              </a:lnSpc>
              <a:spcBef>
                <a:spcPts val="0"/>
              </a:spcBef>
              <a:spcAft>
                <a:spcPts val="200"/>
              </a:spcAft>
            </a:pPr>
            <a:r>
              <a:rPr sz="1200" b="1" i="0">
                <a:solidFill>
                  <a:srgbClr val="1F4E79"/>
                </a:solidFill>
                <a:latin typeface="Consolas"/>
              </a:rPr>
              <a:t>jump_insctruction db 0x48,0xb8  ; movabs rax,&lt;adr&gt;</a:t>
            </a:r>
          </a:p>
          <a:p>
            <a:pPr algn="l">
              <a:lnSpc>
                <a:spcPct val="106000"/>
              </a:lnSpc>
              <a:spcBef>
                <a:spcPts val="0"/>
              </a:spcBef>
              <a:spcAft>
                <a:spcPts val="200"/>
              </a:spcAft>
            </a:pPr>
            <a:r>
              <a:rPr sz="1200" b="1" i="0">
                <a:solidFill>
                  <a:srgbClr val="1F4E79"/>
                </a:solidFill>
                <a:latin typeface="Consolas"/>
              </a:rPr>
              <a:t>jump              db 0,0,0,0, 0xff,0xe0  ; jmp rax</a:t>
            </a:r>
          </a:p>
          <a:p>
            <a:pPr algn="l">
              <a:lnSpc>
                <a:spcPct val="106000"/>
              </a:lnSpc>
              <a:spcBef>
                <a:spcPts val="0"/>
              </a:spcBef>
              <a:spcAft>
                <a:spcPts val="200"/>
              </a:spcAft>
            </a:pPr>
            <a:r>
              <a:rPr sz="1200" b="0" i="0">
                <a:solidFill>
                  <a:srgbClr val="8A93A3"/>
                </a:solidFill>
                <a:latin typeface="Consolas"/>
              </a:rPr>
              <a:t>; adresse ecrite = ancien e_entry</a:t>
            </a:r>
          </a:p>
          <a:p>
            <a:pPr algn="l">
              <a:lnSpc>
                <a:spcPct val="106000"/>
              </a:lnSpc>
              <a:spcBef>
                <a:spcPts val="0"/>
              </a:spcBef>
              <a:spcAft>
                <a:spcPts val="200"/>
              </a:spcAft>
            </a:pPr>
            <a:r>
              <a:rPr sz="1200" b="0" i="0">
                <a:solidFill>
                  <a:srgbClr val="8A93A3"/>
                </a:solidFill>
                <a:latin typeface="Consolas"/>
              </a:rPr>
              <a:t>mov rsi, old_entry_point</a:t>
            </a:r>
          </a:p>
        </p:txBody>
      </p:sp>
      <p:sp>
        <p:nvSpPr>
          <p:cNvPr id="8" name="TextBox 7"/>
          <p:cNvSpPr txBox="1"/>
          <p:nvPr/>
        </p:nvSpPr>
        <p:spPr>
          <a:xfrm>
            <a:off x="6400800" y="2057400"/>
            <a:ext cx="5120640" cy="2011680"/>
          </a:xfrm>
          <a:prstGeom prst="rect">
            <a:avLst/>
          </a:prstGeom>
          <a:noFill/>
        </p:spPr>
        <p:txBody>
          <a:bodyPr wrap="square" anchor="t" lIns="25400" rIns="25400" tIns="12700" bIns="12700">
            <a:spAutoFit/>
          </a:bodyPr>
          <a:lstStyle/>
          <a:p>
            <a:pPr algn="l">
              <a:lnSpc>
                <a:spcPct val="115000"/>
              </a:lnSpc>
              <a:spcBef>
                <a:spcPts val="0"/>
              </a:spcBef>
              <a:spcAft>
                <a:spcPts val="600"/>
              </a:spcAft>
            </a:pPr>
            <a:r>
              <a:rPr sz="1400" b="0" i="0">
                <a:solidFill>
                  <a:srgbClr val="2B2F36"/>
                </a:solidFill>
                <a:latin typeface="Calibri"/>
              </a:rPr>
              <a:t>movabs rax, &lt;ancien e_entry&gt; puis jmp rax.</a:t>
            </a:r>
          </a:p>
          <a:p>
            <a:pPr algn="l">
              <a:lnSpc>
                <a:spcPct val="115000"/>
              </a:lnSpc>
              <a:spcBef>
                <a:spcPts val="0"/>
              </a:spcBef>
              <a:spcAft>
                <a:spcPts val="600"/>
              </a:spcAft>
            </a:pPr>
            <a:r>
              <a:rPr sz="1400" b="0" i="0">
                <a:solidFill>
                  <a:srgbClr val="2B2F36"/>
                </a:solidFill>
                <a:latin typeface="Calibri"/>
              </a:rPr>
              <a:t>Valide car le binaire est -no-pie :</a:t>
            </a:r>
          </a:p>
          <a:p>
            <a:pPr algn="l">
              <a:lnSpc>
                <a:spcPct val="115000"/>
              </a:lnSpc>
              <a:spcBef>
                <a:spcPts val="0"/>
              </a:spcBef>
              <a:spcAft>
                <a:spcPts val="600"/>
              </a:spcAft>
            </a:pPr>
            <a:r>
              <a:rPr sz="1400" b="0" i="0">
                <a:solidFill>
                  <a:srgbClr val="2B2F36"/>
                </a:solidFill>
                <a:latin typeface="Calibri"/>
              </a:rPr>
              <a:t>les adresses sont absolues.</a:t>
            </a:r>
          </a:p>
        </p:txBody>
      </p:sp>
      <p:sp>
        <p:nvSpPr>
          <p:cNvPr id="9" name="TextBox 8"/>
          <p:cNvSpPr txBox="1"/>
          <p:nvPr/>
        </p:nvSpPr>
        <p:spPr>
          <a:xfrm>
            <a:off x="685800" y="4480560"/>
            <a:ext cx="5212080" cy="1737360"/>
          </a:xfrm>
          <a:prstGeom prst="rect">
            <a:avLst/>
          </a:prstGeom>
          <a:noFill/>
        </p:spPr>
        <p:txBody>
          <a:bodyPr wrap="square" anchor="t" lIns="25400" rIns="25400" tIns="12700" bIns="12700">
            <a:spAutoFit/>
          </a:bodyPr>
          <a:lstStyle/>
          <a:p>
            <a:pPr algn="l">
              <a:lnSpc>
                <a:spcPct val="110000"/>
              </a:lnSpc>
              <a:spcBef>
                <a:spcPts val="0"/>
              </a:spcBef>
              <a:spcAft>
                <a:spcPts val="400"/>
              </a:spcAft>
            </a:pPr>
            <a:r>
              <a:rPr sz="1500" b="1" i="0">
                <a:solidFill>
                  <a:srgbClr val="1F4E79"/>
                </a:solidFill>
                <a:latin typeface="Calibri"/>
              </a:rPr>
              <a:t>Connexion réussie</a:t>
            </a:r>
          </a:p>
          <a:p>
            <a:pPr algn="l">
              <a:lnSpc>
                <a:spcPct val="110000"/>
              </a:lnSpc>
              <a:spcBef>
                <a:spcPts val="0"/>
              </a:spcBef>
              <a:spcAft>
                <a:spcPts val="400"/>
              </a:spcAft>
            </a:pPr>
            <a:r>
              <a:rPr sz="1350" b="0" i="0">
                <a:solidFill>
                  <a:srgbClr val="2B2F36"/>
                </a:solidFill>
                <a:latin typeface="Calibri"/>
              </a:rPr>
              <a:t>execve("/bin/sh") remplace le processus.</a:t>
            </a:r>
          </a:p>
          <a:p>
            <a:pPr algn="l">
              <a:lnSpc>
                <a:spcPct val="110000"/>
              </a:lnSpc>
              <a:spcBef>
                <a:spcPts val="0"/>
              </a:spcBef>
              <a:spcAft>
                <a:spcPts val="400"/>
              </a:spcAft>
            </a:pPr>
            <a:r>
              <a:rPr sz="1350" b="0" i="0">
                <a:solidFill>
                  <a:srgbClr val="2B2F36"/>
                </a:solidFill>
                <a:latin typeface="Calibri"/>
              </a:rPr>
              <a:t>Le programme d’origine ne s’exécute pas.</a:t>
            </a:r>
          </a:p>
          <a:p>
            <a:pPr algn="l">
              <a:lnSpc>
                <a:spcPct val="110000"/>
              </a:lnSpc>
              <a:spcBef>
                <a:spcPts val="0"/>
              </a:spcBef>
              <a:spcAft>
                <a:spcPts val="400"/>
              </a:spcAft>
            </a:pPr>
            <a:r>
              <a:rPr sz="1350" b="0" i="0">
                <a:solidFill>
                  <a:srgbClr val="2B2F36"/>
                </a:solidFill>
                <a:latin typeface="Calibri"/>
              </a:rPr>
              <a:t>On obtient un shell distant.</a:t>
            </a:r>
          </a:p>
        </p:txBody>
      </p:sp>
      <p:sp>
        <p:nvSpPr>
          <p:cNvPr id="10" name="TextBox 9"/>
          <p:cNvSpPr txBox="1"/>
          <p:nvPr/>
        </p:nvSpPr>
        <p:spPr>
          <a:xfrm>
            <a:off x="6309360" y="4480560"/>
            <a:ext cx="5212080" cy="1737360"/>
          </a:xfrm>
          <a:prstGeom prst="rect">
            <a:avLst/>
          </a:prstGeom>
          <a:noFill/>
        </p:spPr>
        <p:txBody>
          <a:bodyPr wrap="square" anchor="t" lIns="25400" rIns="25400" tIns="12700" bIns="12700">
            <a:spAutoFit/>
          </a:bodyPr>
          <a:lstStyle/>
          <a:p>
            <a:pPr algn="l">
              <a:lnSpc>
                <a:spcPct val="110000"/>
              </a:lnSpc>
              <a:spcBef>
                <a:spcPts val="0"/>
              </a:spcBef>
              <a:spcAft>
                <a:spcPts val="400"/>
              </a:spcAft>
            </a:pPr>
            <a:r>
              <a:rPr sz="1500" b="1" i="0">
                <a:solidFill>
                  <a:srgbClr val="6B7280"/>
                </a:solidFill>
                <a:latin typeface="Calibri"/>
              </a:rPr>
              <a:t>Connexion échouée</a:t>
            </a:r>
          </a:p>
          <a:p>
            <a:pPr algn="l">
              <a:lnSpc>
                <a:spcPct val="110000"/>
              </a:lnSpc>
              <a:spcBef>
                <a:spcPts val="0"/>
              </a:spcBef>
              <a:spcAft>
                <a:spcPts val="400"/>
              </a:spcAft>
            </a:pPr>
            <a:r>
              <a:rPr sz="1350" b="0" i="0">
                <a:solidFill>
                  <a:srgbClr val="2B2F36"/>
                </a:solidFill>
                <a:latin typeface="Calibri"/>
              </a:rPr>
              <a:t>On restaure les registres, puis jmp rax</a:t>
            </a:r>
          </a:p>
          <a:p>
            <a:pPr algn="l">
              <a:lnSpc>
                <a:spcPct val="110000"/>
              </a:lnSpc>
              <a:spcBef>
                <a:spcPts val="0"/>
              </a:spcBef>
              <a:spcAft>
                <a:spcPts val="400"/>
              </a:spcAft>
            </a:pPr>
            <a:r>
              <a:rPr sz="1350" b="0" i="0">
                <a:solidFill>
                  <a:srgbClr val="2B2F36"/>
                </a:solidFill>
                <a:latin typeface="Calibri"/>
              </a:rPr>
              <a:t>vers l’ancien e_entry.</a:t>
            </a:r>
          </a:p>
          <a:p>
            <a:pPr algn="l">
              <a:lnSpc>
                <a:spcPct val="110000"/>
              </a:lnSpc>
              <a:spcBef>
                <a:spcPts val="0"/>
              </a:spcBef>
              <a:spcAft>
                <a:spcPts val="400"/>
              </a:spcAft>
            </a:pPr>
            <a:r>
              <a:rPr sz="1350" b="0" i="0">
                <a:solidFill>
                  <a:srgbClr val="2B2F36"/>
                </a:solidFill>
                <a:latin typeface="Calibri"/>
              </a:rPr>
              <a:t>Le programme s’exécute normalement (repli).</a:t>
            </a:r>
          </a:p>
        </p:txBody>
      </p:sp>
      <p:sp>
        <p:nvSpPr>
          <p:cNvPr id="11" name="TextBox 10"/>
          <p:cNvSpPr txBox="1"/>
          <p:nvPr/>
        </p:nvSpPr>
        <p:spPr>
          <a:xfrm>
            <a:off x="11247120" y="6437376"/>
            <a:ext cx="731520" cy="320040"/>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1050" b="0" i="0">
                <a:solidFill>
                  <a:srgbClr val="6B728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i="0">
                <a:solidFill>
                  <a:srgbClr val="1F4E79"/>
                </a:solidFill>
                <a:latin typeface="Calibri"/>
              </a:rPr>
              <a:t>5 · DÉMONSTRATION</a:t>
            </a:r>
          </a:p>
        </p:txBody>
      </p:sp>
      <p:sp>
        <p:nvSpPr>
          <p:cNvPr id="4" name="TextBox 3"/>
          <p:cNvSpPr txBox="1"/>
          <p:nvPr/>
        </p:nvSpPr>
        <p:spPr>
          <a:xfrm>
            <a:off x="685800" y="786384"/>
            <a:ext cx="10789920" cy="9144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i="0">
                <a:solidFill>
                  <a:srgbClr val="1A1A1A"/>
                </a:solidFill>
                <a:latin typeface="Calibri"/>
              </a:rPr>
              <a:t>De l’infection au shell distant</a:t>
            </a:r>
          </a:p>
        </p:txBody>
      </p:sp>
      <p:sp>
        <p:nvSpPr>
          <p:cNvPr id="5" name="TextBox 4"/>
          <p:cNvSpPr txBox="1"/>
          <p:nvPr/>
        </p:nvSpPr>
        <p:spPr>
          <a:xfrm>
            <a:off x="685800" y="2103120"/>
            <a:ext cx="457200" cy="5486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800" b="1" i="0">
                <a:solidFill>
                  <a:srgbClr val="1F4E79"/>
                </a:solidFill>
                <a:latin typeface="Calibri"/>
              </a:rPr>
              <a:t>1.</a:t>
            </a:r>
          </a:p>
        </p:txBody>
      </p:sp>
      <p:sp>
        <p:nvSpPr>
          <p:cNvPr id="6" name="TextBox 5"/>
          <p:cNvSpPr txBox="1"/>
          <p:nvPr/>
        </p:nvSpPr>
        <p:spPr>
          <a:xfrm>
            <a:off x="1188720" y="2103120"/>
            <a:ext cx="1828800" cy="5486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550" b="1" i="0">
                <a:solidFill>
                  <a:srgbClr val="1A1A1A"/>
                </a:solidFill>
                <a:latin typeface="Calibri"/>
              </a:rPr>
              <a:t>Compiler</a:t>
            </a:r>
          </a:p>
        </p:txBody>
      </p:sp>
      <p:sp>
        <p:nvSpPr>
          <p:cNvPr id="7" name="TextBox 6"/>
          <p:cNvSpPr txBox="1"/>
          <p:nvPr/>
        </p:nvSpPr>
        <p:spPr>
          <a:xfrm>
            <a:off x="3108960" y="2103120"/>
            <a:ext cx="8321040" cy="5486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50" b="0" i="0">
                <a:solidFill>
                  <a:srgbClr val="242931"/>
                </a:solidFill>
                <a:latin typeface="Consolas"/>
              </a:rPr>
              <a:t>make  —  infecteur + cible safe_code (-no-pie)</a:t>
            </a:r>
          </a:p>
        </p:txBody>
      </p:sp>
      <p:sp>
        <p:nvSpPr>
          <p:cNvPr id="8" name="TextBox 7"/>
          <p:cNvSpPr txBox="1"/>
          <p:nvPr/>
        </p:nvSpPr>
        <p:spPr>
          <a:xfrm>
            <a:off x="685800" y="3017520"/>
            <a:ext cx="457200" cy="5486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800" b="1" i="0">
                <a:solidFill>
                  <a:srgbClr val="1F4E79"/>
                </a:solidFill>
                <a:latin typeface="Calibri"/>
              </a:rPr>
              <a:t>2.</a:t>
            </a:r>
          </a:p>
        </p:txBody>
      </p:sp>
      <p:sp>
        <p:nvSpPr>
          <p:cNvPr id="9" name="TextBox 8"/>
          <p:cNvSpPr txBox="1"/>
          <p:nvPr/>
        </p:nvSpPr>
        <p:spPr>
          <a:xfrm>
            <a:off x="1188720" y="3017520"/>
            <a:ext cx="1828800" cy="5486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550" b="1" i="0">
                <a:solidFill>
                  <a:srgbClr val="1A1A1A"/>
                </a:solidFill>
                <a:latin typeface="Calibri"/>
              </a:rPr>
              <a:t>Infecter</a:t>
            </a:r>
          </a:p>
        </p:txBody>
      </p:sp>
      <p:sp>
        <p:nvSpPr>
          <p:cNvPr id="10" name="TextBox 9"/>
          <p:cNvSpPr txBox="1"/>
          <p:nvPr/>
        </p:nvSpPr>
        <p:spPr>
          <a:xfrm>
            <a:off x="3108960" y="3017520"/>
            <a:ext cx="8321040" cy="5486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50" b="0" i="0">
                <a:solidFill>
                  <a:srgbClr val="242931"/>
                </a:solidFill>
                <a:latin typeface="Consolas"/>
              </a:rPr>
              <a:t>./main/infector saine-code/safe_code → IP + port</a:t>
            </a:r>
          </a:p>
        </p:txBody>
      </p:sp>
      <p:sp>
        <p:nvSpPr>
          <p:cNvPr id="11" name="TextBox 10"/>
          <p:cNvSpPr txBox="1"/>
          <p:nvPr/>
        </p:nvSpPr>
        <p:spPr>
          <a:xfrm>
            <a:off x="685800" y="3931920"/>
            <a:ext cx="457200" cy="5486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800" b="1" i="0">
                <a:solidFill>
                  <a:srgbClr val="1F4E79"/>
                </a:solidFill>
                <a:latin typeface="Calibri"/>
              </a:rPr>
              <a:t>3.</a:t>
            </a:r>
          </a:p>
        </p:txBody>
      </p:sp>
      <p:sp>
        <p:nvSpPr>
          <p:cNvPr id="12" name="TextBox 11"/>
          <p:cNvSpPr txBox="1"/>
          <p:nvPr/>
        </p:nvSpPr>
        <p:spPr>
          <a:xfrm>
            <a:off x="1188720" y="3931920"/>
            <a:ext cx="1828800" cy="5486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550" b="1" i="0">
                <a:solidFill>
                  <a:srgbClr val="1A1A1A"/>
                </a:solidFill>
                <a:latin typeface="Calibri"/>
              </a:rPr>
              <a:t>Écouter</a:t>
            </a:r>
          </a:p>
        </p:txBody>
      </p:sp>
      <p:sp>
        <p:nvSpPr>
          <p:cNvPr id="13" name="TextBox 12"/>
          <p:cNvSpPr txBox="1"/>
          <p:nvPr/>
        </p:nvSpPr>
        <p:spPr>
          <a:xfrm>
            <a:off x="3108960" y="3931920"/>
            <a:ext cx="8321040" cy="5486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50" b="0" i="0">
                <a:solidFill>
                  <a:srgbClr val="242931"/>
                </a:solidFill>
                <a:latin typeface="Consolas"/>
              </a:rPr>
              <a:t>nc -lnvp 4444   (sur une autre VM)</a:t>
            </a:r>
          </a:p>
        </p:txBody>
      </p:sp>
      <p:sp>
        <p:nvSpPr>
          <p:cNvPr id="14" name="TextBox 13"/>
          <p:cNvSpPr txBox="1"/>
          <p:nvPr/>
        </p:nvSpPr>
        <p:spPr>
          <a:xfrm>
            <a:off x="685800" y="4846320"/>
            <a:ext cx="457200" cy="5486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800" b="1" i="0">
                <a:solidFill>
                  <a:srgbClr val="1F4E79"/>
                </a:solidFill>
                <a:latin typeface="Calibri"/>
              </a:rPr>
              <a:t>4.</a:t>
            </a:r>
          </a:p>
        </p:txBody>
      </p:sp>
      <p:sp>
        <p:nvSpPr>
          <p:cNvPr id="15" name="TextBox 14"/>
          <p:cNvSpPr txBox="1"/>
          <p:nvPr/>
        </p:nvSpPr>
        <p:spPr>
          <a:xfrm>
            <a:off x="1188720" y="4846320"/>
            <a:ext cx="1828800" cy="5486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550" b="1" i="0">
                <a:solidFill>
                  <a:srgbClr val="1A1A1A"/>
                </a:solidFill>
                <a:latin typeface="Calibri"/>
              </a:rPr>
              <a:t>Exécuter</a:t>
            </a:r>
          </a:p>
        </p:txBody>
      </p:sp>
      <p:sp>
        <p:nvSpPr>
          <p:cNvPr id="16" name="TextBox 15"/>
          <p:cNvSpPr txBox="1"/>
          <p:nvPr/>
        </p:nvSpPr>
        <p:spPr>
          <a:xfrm>
            <a:off x="3108960" y="4846320"/>
            <a:ext cx="8321040" cy="5486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50" b="0" i="0">
                <a:solidFill>
                  <a:srgbClr val="242931"/>
                </a:solidFill>
                <a:latin typeface="Consolas"/>
              </a:rPr>
              <a:t>./saine-code/safe_code  →  shell reçu</a:t>
            </a:r>
          </a:p>
        </p:txBody>
      </p:sp>
      <p:sp>
        <p:nvSpPr>
          <p:cNvPr id="17" name="TextBox 16"/>
          <p:cNvSpPr txBox="1"/>
          <p:nvPr/>
        </p:nvSpPr>
        <p:spPr>
          <a:xfrm>
            <a:off x="685800" y="5943600"/>
            <a:ext cx="10789920" cy="5486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50" b="0" i="1">
                <a:solidFill>
                  <a:srgbClr val="6B7280"/>
                </a:solidFill>
                <a:latin typeface="Calibri"/>
              </a:rPr>
              <a:t>Résultat démontré : la cible se connecte à l’écouteur et ouvre /bin/sh. Le reste est une lecture statique.</a:t>
            </a:r>
          </a:p>
        </p:txBody>
      </p:sp>
      <p:sp>
        <p:nvSpPr>
          <p:cNvPr id="18" name="TextBox 17"/>
          <p:cNvSpPr txBox="1"/>
          <p:nvPr/>
        </p:nvSpPr>
        <p:spPr>
          <a:xfrm>
            <a:off x="11247120" y="6437376"/>
            <a:ext cx="731520" cy="320040"/>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1050" b="0" i="0">
                <a:solidFill>
                  <a:srgbClr val="6B728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57200"/>
            <a:ext cx="1078992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i="0">
                <a:solidFill>
                  <a:srgbClr val="1F4E79"/>
                </a:solidFill>
                <a:latin typeface="Calibri"/>
              </a:rPr>
              <a:t>6 · BILAN, LIMITES &amp; DÉTECTION</a:t>
            </a:r>
          </a:p>
        </p:txBody>
      </p:sp>
      <p:sp>
        <p:nvSpPr>
          <p:cNvPr id="4" name="TextBox 3"/>
          <p:cNvSpPr txBox="1"/>
          <p:nvPr/>
        </p:nvSpPr>
        <p:spPr>
          <a:xfrm>
            <a:off x="685800" y="786384"/>
            <a:ext cx="10789920" cy="9144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i="0">
                <a:solidFill>
                  <a:srgbClr val="1A1A1A"/>
                </a:solidFill>
                <a:latin typeface="Calibri"/>
              </a:rPr>
              <a:t>Bilan : fait, ouvertures, limites et détection</a:t>
            </a:r>
          </a:p>
        </p:txBody>
      </p:sp>
      <p:sp>
        <p:nvSpPr>
          <p:cNvPr id="5" name="TextBox 4"/>
          <p:cNvSpPr txBox="1"/>
          <p:nvPr/>
        </p:nvSpPr>
        <p:spPr>
          <a:xfrm>
            <a:off x="685800" y="2011680"/>
            <a:ext cx="3383280" cy="4572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550" b="1" i="0">
                <a:solidFill>
                  <a:srgbClr val="1F4E79"/>
                </a:solidFill>
                <a:latin typeface="Calibri"/>
              </a:rPr>
              <a:t>Fait &amp; démontré</a:t>
            </a:r>
          </a:p>
        </p:txBody>
      </p:sp>
      <p:sp>
        <p:nvSpPr>
          <p:cNvPr id="6" name="TextBox 5"/>
          <p:cNvSpPr txBox="1"/>
          <p:nvPr/>
        </p:nvSpPr>
        <p:spPr>
          <a:xfrm>
            <a:off x="685800" y="2514600"/>
            <a:ext cx="3429000" cy="2743200"/>
          </a:xfrm>
          <a:prstGeom prst="rect">
            <a:avLst/>
          </a:prstGeom>
          <a:noFill/>
        </p:spPr>
        <p:txBody>
          <a:bodyPr wrap="square" anchor="t" lIns="25400" rIns="25400" tIns="12700" bIns="12700">
            <a:spAutoFit/>
          </a:bodyPr>
          <a:lstStyle/>
          <a:p>
            <a:pPr algn="l">
              <a:lnSpc>
                <a:spcPct val="115000"/>
              </a:lnSpc>
              <a:spcBef>
                <a:spcPts val="0"/>
              </a:spcBef>
              <a:spcAft>
                <a:spcPts val="600"/>
              </a:spcAft>
            </a:pPr>
            <a:r>
              <a:rPr sz="1300" b="0" i="0">
                <a:solidFill>
                  <a:srgbClr val="6B7280"/>
                </a:solidFill>
                <a:latin typeface="Calibri"/>
              </a:rPr>
              <a:t>•  </a:t>
            </a:r>
            <a:r>
              <a:rPr sz="1300" b="0" i="0">
                <a:solidFill>
                  <a:srgbClr val="2B2F36"/>
                </a:solidFill>
                <a:latin typeface="Calibri"/>
              </a:rPr>
              <a:t>Infecteur PT_NOTE → PT_LOAD</a:t>
            </a:r>
          </a:p>
          <a:p>
            <a:pPr algn="l">
              <a:lnSpc>
                <a:spcPct val="115000"/>
              </a:lnSpc>
              <a:spcBef>
                <a:spcPts val="0"/>
              </a:spcBef>
              <a:spcAft>
                <a:spcPts val="600"/>
              </a:spcAft>
            </a:pPr>
            <a:r>
              <a:rPr sz="1300" b="0" i="0">
                <a:solidFill>
                  <a:srgbClr val="6B7280"/>
                </a:solidFill>
                <a:latin typeface="Calibri"/>
              </a:rPr>
              <a:t>•  </a:t>
            </a:r>
            <a:r>
              <a:rPr sz="1300" b="0" i="0">
                <a:solidFill>
                  <a:srgbClr val="2B2F36"/>
                </a:solidFill>
                <a:latin typeface="Calibri"/>
              </a:rPr>
              <a:t>Reverse shell (bonus)</a:t>
            </a:r>
          </a:p>
          <a:p>
            <a:pPr algn="l">
              <a:lnSpc>
                <a:spcPct val="115000"/>
              </a:lnSpc>
              <a:spcBef>
                <a:spcPts val="0"/>
              </a:spcBef>
              <a:spcAft>
                <a:spcPts val="600"/>
              </a:spcAft>
            </a:pPr>
            <a:r>
              <a:rPr sz="1300" b="0" i="0">
                <a:solidFill>
                  <a:srgbClr val="6B7280"/>
                </a:solidFill>
                <a:latin typeface="Calibri"/>
              </a:rPr>
              <a:t>•  </a:t>
            </a:r>
            <a:r>
              <a:rPr sz="1300" b="0" i="0">
                <a:solidFill>
                  <a:srgbClr val="2B2F36"/>
                </a:solidFill>
                <a:latin typeface="Calibri"/>
              </a:rPr>
              <a:t>Retour propre au programme</a:t>
            </a:r>
          </a:p>
          <a:p>
            <a:pPr algn="l">
              <a:lnSpc>
                <a:spcPct val="115000"/>
              </a:lnSpc>
              <a:spcBef>
                <a:spcPts val="0"/>
              </a:spcBef>
              <a:spcAft>
                <a:spcPts val="600"/>
              </a:spcAft>
            </a:pPr>
            <a:r>
              <a:rPr sz="1300" b="0" i="0">
                <a:solidFill>
                  <a:srgbClr val="6B7280"/>
                </a:solidFill>
                <a:latin typeface="Calibri"/>
              </a:rPr>
              <a:t>•  </a:t>
            </a:r>
            <a:r>
              <a:rPr sz="1300" b="0" i="0">
                <a:solidFill>
                  <a:srgbClr val="2B2F36"/>
                </a:solidFill>
                <a:latin typeface="Calibri"/>
              </a:rPr>
              <a:t>Repli furtif si C2 absent</a:t>
            </a:r>
          </a:p>
        </p:txBody>
      </p:sp>
      <p:sp>
        <p:nvSpPr>
          <p:cNvPr id="7" name="TextBox 6"/>
          <p:cNvSpPr txBox="1"/>
          <p:nvPr/>
        </p:nvSpPr>
        <p:spPr>
          <a:xfrm>
            <a:off x="4343400" y="2011680"/>
            <a:ext cx="3383280" cy="4572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550" b="1" i="0">
                <a:solidFill>
                  <a:srgbClr val="1F4E79"/>
                </a:solidFill>
                <a:latin typeface="Calibri"/>
              </a:rPr>
              <a:t>Ouvertures (non faites)</a:t>
            </a:r>
          </a:p>
        </p:txBody>
      </p:sp>
      <p:sp>
        <p:nvSpPr>
          <p:cNvPr id="8" name="TextBox 7"/>
          <p:cNvSpPr txBox="1"/>
          <p:nvPr/>
        </p:nvSpPr>
        <p:spPr>
          <a:xfrm>
            <a:off x="4343400" y="2514600"/>
            <a:ext cx="3429000" cy="2743200"/>
          </a:xfrm>
          <a:prstGeom prst="rect">
            <a:avLst/>
          </a:prstGeom>
          <a:noFill/>
        </p:spPr>
        <p:txBody>
          <a:bodyPr wrap="square" anchor="t" lIns="25400" rIns="25400" tIns="12700" bIns="12700">
            <a:spAutoFit/>
          </a:bodyPr>
          <a:lstStyle/>
          <a:p>
            <a:pPr algn="l">
              <a:lnSpc>
                <a:spcPct val="115000"/>
              </a:lnSpc>
              <a:spcBef>
                <a:spcPts val="0"/>
              </a:spcBef>
              <a:spcAft>
                <a:spcPts val="600"/>
              </a:spcAft>
            </a:pPr>
            <a:r>
              <a:rPr sz="1300" b="0" i="0">
                <a:solidFill>
                  <a:srgbClr val="6B7280"/>
                </a:solidFill>
                <a:latin typeface="Calibri"/>
              </a:rPr>
              <a:t>•  </a:t>
            </a:r>
            <a:r>
              <a:rPr sz="1300" b="0" i="0">
                <a:solidFill>
                  <a:srgbClr val="2B2F36"/>
                </a:solidFill>
                <a:latin typeface="Calibri"/>
              </a:rPr>
              <a:t>Chiffrement de la communication</a:t>
            </a:r>
          </a:p>
          <a:p>
            <a:pPr algn="l">
              <a:lnSpc>
                <a:spcPct val="115000"/>
              </a:lnSpc>
              <a:spcBef>
                <a:spcPts val="0"/>
              </a:spcBef>
              <a:spcAft>
                <a:spcPts val="600"/>
              </a:spcAft>
            </a:pPr>
            <a:r>
              <a:rPr sz="1300" b="0" i="0">
                <a:solidFill>
                  <a:srgbClr val="6B7280"/>
                </a:solidFill>
                <a:latin typeface="Calibri"/>
              </a:rPr>
              <a:t>•  </a:t>
            </a:r>
            <a:r>
              <a:rPr sz="1300" b="0" i="0">
                <a:solidFill>
                  <a:srgbClr val="2B2F36"/>
                </a:solidFill>
                <a:latin typeface="Calibri"/>
              </a:rPr>
              <a:t>Support -pie &amp; relocations</a:t>
            </a:r>
          </a:p>
          <a:p>
            <a:pPr algn="l">
              <a:lnSpc>
                <a:spcPct val="115000"/>
              </a:lnSpc>
              <a:spcBef>
                <a:spcPts val="0"/>
              </a:spcBef>
              <a:spcAft>
                <a:spcPts val="600"/>
              </a:spcAft>
            </a:pPr>
            <a:r>
              <a:rPr sz="1300" b="0" i="0">
                <a:solidFill>
                  <a:srgbClr val="6B7280"/>
                </a:solidFill>
                <a:latin typeface="Calibri"/>
              </a:rPr>
              <a:t>•  </a:t>
            </a:r>
            <a:r>
              <a:rPr sz="1300" b="0" i="0">
                <a:solidFill>
                  <a:srgbClr val="2B2F36"/>
                </a:solidFill>
                <a:latin typeface="Calibri"/>
              </a:rPr>
              <a:t>Shellcode polymorphe</a:t>
            </a:r>
          </a:p>
          <a:p>
            <a:pPr algn="l">
              <a:lnSpc>
                <a:spcPct val="115000"/>
              </a:lnSpc>
              <a:spcBef>
                <a:spcPts val="0"/>
              </a:spcBef>
              <a:spcAft>
                <a:spcPts val="600"/>
              </a:spcAft>
            </a:pPr>
            <a:r>
              <a:rPr sz="1300" b="0" i="0">
                <a:solidFill>
                  <a:srgbClr val="6B7280"/>
                </a:solidFill>
                <a:latin typeface="Calibri"/>
              </a:rPr>
              <a:t>•  </a:t>
            </a:r>
            <a:r>
              <a:rPr sz="1300" b="0" i="0">
                <a:solidFill>
                  <a:srgbClr val="2B2F36"/>
                </a:solidFill>
                <a:latin typeface="Calibri"/>
              </a:rPr>
              <a:t>Environmental keying</a:t>
            </a:r>
          </a:p>
        </p:txBody>
      </p:sp>
      <p:sp>
        <p:nvSpPr>
          <p:cNvPr id="9" name="TextBox 8"/>
          <p:cNvSpPr txBox="1"/>
          <p:nvPr/>
        </p:nvSpPr>
        <p:spPr>
          <a:xfrm>
            <a:off x="8001000" y="2011680"/>
            <a:ext cx="3383280" cy="4572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550" b="1" i="0">
                <a:solidFill>
                  <a:srgbClr val="1F4E79"/>
                </a:solidFill>
                <a:latin typeface="Calibri"/>
              </a:rPr>
              <a:t>Limites connues</a:t>
            </a:r>
          </a:p>
        </p:txBody>
      </p:sp>
      <p:sp>
        <p:nvSpPr>
          <p:cNvPr id="10" name="TextBox 9"/>
          <p:cNvSpPr txBox="1"/>
          <p:nvPr/>
        </p:nvSpPr>
        <p:spPr>
          <a:xfrm>
            <a:off x="8001000" y="2514600"/>
            <a:ext cx="3429000" cy="2743200"/>
          </a:xfrm>
          <a:prstGeom prst="rect">
            <a:avLst/>
          </a:prstGeom>
          <a:noFill/>
        </p:spPr>
        <p:txBody>
          <a:bodyPr wrap="square" anchor="t" lIns="25400" rIns="25400" tIns="12700" bIns="12700">
            <a:spAutoFit/>
          </a:bodyPr>
          <a:lstStyle/>
          <a:p>
            <a:pPr algn="l">
              <a:lnSpc>
                <a:spcPct val="115000"/>
              </a:lnSpc>
              <a:spcBef>
                <a:spcPts val="0"/>
              </a:spcBef>
              <a:spcAft>
                <a:spcPts val="600"/>
              </a:spcAft>
            </a:pPr>
            <a:r>
              <a:rPr sz="1300" b="0" i="0">
                <a:solidFill>
                  <a:srgbClr val="6B7280"/>
                </a:solidFill>
                <a:latin typeface="Calibri"/>
              </a:rPr>
              <a:t>•  </a:t>
            </a:r>
            <a:r>
              <a:rPr sz="1300" b="0" i="0">
                <a:solidFill>
                  <a:srgbClr val="2B2F36"/>
                </a:solidFill>
                <a:latin typeface="Calibri"/>
              </a:rPr>
              <a:t>Cible -no-pie uniquement</a:t>
            </a:r>
          </a:p>
          <a:p>
            <a:pPr algn="l">
              <a:lnSpc>
                <a:spcPct val="115000"/>
              </a:lnSpc>
              <a:spcBef>
                <a:spcPts val="0"/>
              </a:spcBef>
              <a:spcAft>
                <a:spcPts val="600"/>
              </a:spcAft>
            </a:pPr>
            <a:r>
              <a:rPr sz="1300" b="0" i="0">
                <a:solidFill>
                  <a:srgbClr val="6B7280"/>
                </a:solidFill>
                <a:latin typeface="Calibri"/>
              </a:rPr>
              <a:t>•  </a:t>
            </a:r>
            <a:r>
              <a:rPr sz="1300" b="0" i="0">
                <a:solidFill>
                  <a:srgbClr val="2B2F36"/>
                </a:solidFill>
                <a:latin typeface="Calibri"/>
              </a:rPr>
              <a:t>Tailles sur 3 octets (&lt;16 Mio)</a:t>
            </a:r>
          </a:p>
          <a:p>
            <a:pPr algn="l">
              <a:lnSpc>
                <a:spcPct val="115000"/>
              </a:lnSpc>
              <a:spcBef>
                <a:spcPts val="0"/>
              </a:spcBef>
              <a:spcAft>
                <a:spcPts val="600"/>
              </a:spcAft>
            </a:pPr>
            <a:r>
              <a:rPr sz="1300" b="0" i="0">
                <a:solidFill>
                  <a:srgbClr val="6B7280"/>
                </a:solidFill>
                <a:latin typeface="Calibri"/>
              </a:rPr>
              <a:t>•  </a:t>
            </a:r>
            <a:r>
              <a:rPr sz="1300" b="0" i="0">
                <a:solidFill>
                  <a:srgbClr val="2B2F36"/>
                </a:solidFill>
                <a:latin typeface="Calibri"/>
              </a:rPr>
              <a:t>Suppose la socket en fd 3</a:t>
            </a:r>
          </a:p>
          <a:p>
            <a:pPr algn="l">
              <a:lnSpc>
                <a:spcPct val="115000"/>
              </a:lnSpc>
              <a:spcBef>
                <a:spcPts val="0"/>
              </a:spcBef>
              <a:spcAft>
                <a:spcPts val="600"/>
              </a:spcAft>
            </a:pPr>
            <a:r>
              <a:rPr sz="1300" b="0" i="0">
                <a:solidFill>
                  <a:srgbClr val="6B7280"/>
                </a:solidFill>
                <a:latin typeface="Calibri"/>
              </a:rPr>
              <a:t>•  </a:t>
            </a:r>
            <a:r>
              <a:rPr sz="1300" b="0" i="0">
                <a:solidFill>
                  <a:srgbClr val="2B2F36"/>
                </a:solidFill>
                <a:latin typeface="Calibri"/>
              </a:rPr>
              <a:t>Descripteur non refermé</a:t>
            </a:r>
          </a:p>
        </p:txBody>
      </p:sp>
      <p:sp>
        <p:nvSpPr>
          <p:cNvPr id="11" name="TextBox 10"/>
          <p:cNvSpPr txBox="1"/>
          <p:nvPr/>
        </p:nvSpPr>
        <p:spPr>
          <a:xfrm>
            <a:off x="685800" y="5440680"/>
            <a:ext cx="10789920" cy="1005840"/>
          </a:xfrm>
          <a:prstGeom prst="rect">
            <a:avLst/>
          </a:prstGeom>
          <a:noFill/>
        </p:spPr>
        <p:txBody>
          <a:bodyPr wrap="square" anchor="t" lIns="25400" rIns="25400" tIns="12700" bIns="12700">
            <a:spAutoFit/>
          </a:bodyPr>
          <a:lstStyle/>
          <a:p>
            <a:pPr algn="l">
              <a:lnSpc>
                <a:spcPct val="115000"/>
              </a:lnSpc>
              <a:spcBef>
                <a:spcPts val="0"/>
              </a:spcBef>
              <a:spcAft>
                <a:spcPts val="300"/>
              </a:spcAft>
            </a:pPr>
            <a:r>
              <a:rPr sz="1350" b="1" i="0">
                <a:solidFill>
                  <a:srgbClr val="1A1A1A"/>
                </a:solidFill>
                <a:latin typeface="Calibri"/>
              </a:rPr>
              <a:t>Détection (vision défensive). </a:t>
            </a:r>
            <a:r>
              <a:rPr sz="1350" b="0" i="0">
                <a:solidFill>
                  <a:srgbClr val="2B2F36"/>
                </a:solidFill>
                <a:latin typeface="Calibri"/>
              </a:rPr>
              <a:t>Un PT_NOTE devenu PT_LOAD exécutable, un point d’entrée situé après les sections</a:t>
            </a:r>
          </a:p>
          <a:p>
            <a:pPr algn="l">
              <a:lnSpc>
                <a:spcPct val="115000"/>
              </a:lnSpc>
              <a:spcBef>
                <a:spcPts val="0"/>
              </a:spcBef>
              <a:spcAft>
                <a:spcPts val="300"/>
              </a:spcAft>
            </a:pPr>
            <a:r>
              <a:rPr sz="1350" b="0" i="0">
                <a:solidFill>
                  <a:srgbClr val="2B2F36"/>
                </a:solidFill>
                <a:latin typeface="Calibri"/>
              </a:rPr>
              <a:t>normales, et une taille de fichier accrue : une règle YARA peut cibler cette signature. </a:t>
            </a:r>
            <a:r>
              <a:rPr sz="1350" b="0" i="1">
                <a:solidFill>
                  <a:srgbClr val="6B7280"/>
                </a:solidFill>
                <a:latin typeface="Calibri"/>
              </a:rPr>
              <a:t>Comprendre l’attaque pour mieux la détecter.</a:t>
            </a:r>
          </a:p>
        </p:txBody>
      </p:sp>
      <p:sp>
        <p:nvSpPr>
          <p:cNvPr id="12" name="TextBox 11"/>
          <p:cNvSpPr txBox="1"/>
          <p:nvPr/>
        </p:nvSpPr>
        <p:spPr>
          <a:xfrm>
            <a:off x="11247120" y="6437376"/>
            <a:ext cx="731520" cy="320040"/>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1050" b="0" i="0">
                <a:solidFill>
                  <a:srgbClr val="6B7280"/>
                </a:solidFill>
                <a:latin typeface="Calibri"/>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